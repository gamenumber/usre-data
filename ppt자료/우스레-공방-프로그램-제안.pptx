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slide" Target="slides/slide18.xml"  /><Relationship Id="rId2" Type="http://schemas.openxmlformats.org/officeDocument/2006/relationships/slide" Target="slides/slide1.xml"  /><Relationship Id="rId20" Type="http://schemas.openxmlformats.org/officeDocument/2006/relationships/slide" Target="slides/slide19.xml"  /><Relationship Id="rId21" Type="http://schemas.openxmlformats.org/officeDocument/2006/relationships/slide" Target="slides/slide20.xml"  /><Relationship Id="rId22" Type="http://schemas.openxmlformats.org/officeDocument/2006/relationships/slide" Target="slides/slide21.xml"  /><Relationship Id="rId23" Type="http://schemas.openxmlformats.org/officeDocument/2006/relationships/slide" Target="slides/slide22.xml"  /><Relationship Id="rId24" Type="http://schemas.openxmlformats.org/officeDocument/2006/relationships/slide" Target="slides/slide23.xml"  /><Relationship Id="rId25" Type="http://schemas.openxmlformats.org/officeDocument/2006/relationships/slide" Target="slides/slide24.xml"  /><Relationship Id="rId26" Type="http://schemas.openxmlformats.org/officeDocument/2006/relationships/presProps" Target="presProps.xml"  /><Relationship Id="rId27" Type="http://schemas.openxmlformats.org/officeDocument/2006/relationships/viewProps" Target="viewProps.xml"  /><Relationship Id="rId28" Type="http://schemas.openxmlformats.org/officeDocument/2006/relationships/theme" Target="theme/theme1.xml"  /><Relationship Id="rId29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7.png"  /><Relationship Id="rId9" Type="http://schemas.openxmlformats.org/officeDocument/2006/relationships/image" Target="../media/image8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0.png"  /><Relationship Id="rId7" Type="http://schemas.openxmlformats.org/officeDocument/2006/relationships/image" Target="../media/image11.png"  /><Relationship Id="rId8" Type="http://schemas.openxmlformats.org/officeDocument/2006/relationships/image" Target="../media/image12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0.png"  /><Relationship Id="rId7" Type="http://schemas.openxmlformats.org/officeDocument/2006/relationships/image" Target="../media/image11.png"  /><Relationship Id="rId8" Type="http://schemas.openxmlformats.org/officeDocument/2006/relationships/image" Target="../media/image1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16.png"  /><Relationship Id="rId9" Type="http://schemas.openxmlformats.org/officeDocument/2006/relationships/image" Target="../media/image17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18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19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81661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6383000" y="6616700"/>
            <a:ext cx="114300" cy="1143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6383000" y="3556000"/>
            <a:ext cx="114300" cy="1143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790700" y="6616700"/>
            <a:ext cx="114300" cy="1143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790700" y="3556000"/>
            <a:ext cx="114300" cy="1143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025900" y="2374900"/>
            <a:ext cx="10236200" cy="8128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435100" y="8394700"/>
            <a:ext cx="15417800" cy="317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1800" b="false" i="false" u="none" strike="noStrike" spc="500">
                <a:solidFill>
                  <a:srgbClr val="B0966E"/>
                </a:solidFill>
                <a:ea typeface="Pretendard Regular"/>
              </a:rPr>
              <a:t>우스레</a:t>
            </a:r>
            <a:r>
              <a:rPr lang="en-US" sz="1800" b="false" i="false" u="none" strike="noStrike" spc="500">
                <a:solidFill>
                  <a:srgbClr val="B0966E"/>
                </a:solidFill>
                <a:latin typeface="Pretendard Regular"/>
              </a:rPr>
              <a:t> </a:t>
            </a:r>
            <a:r>
              <a:rPr lang="ko-KR" sz="1800" b="false" i="false" u="none" strike="noStrike" spc="500">
                <a:solidFill>
                  <a:srgbClr val="B0966E"/>
                </a:solidFill>
                <a:ea typeface="Pretendard Regular"/>
              </a:rPr>
              <a:t>공방</a:t>
            </a:r>
          </a:p>
        </p:txBody>
      </p:sp>
      <p:sp>
        <p:nvSpPr>
          <p:cNvPr name="TextBox 15" id="15"/>
          <p:cNvSpPr txBox="true"/>
          <p:nvPr/>
        </p:nvSpPr>
        <p:spPr>
          <a:xfrm rot="5400000">
            <a:off x="15227300" y="4991100"/>
            <a:ext cx="24130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탄소중립과</a:t>
            </a:r>
            <a:r>
              <a:rPr lang="en-US" sz="1600" b="false" i="false" u="none" strike="noStrike" spc="500">
                <a:solidFill>
                  <a:srgbClr val="715130"/>
                </a:solidFill>
                <a:latin typeface="Pretendard Medium"/>
              </a:rPr>
              <a:t> ESG</a:t>
            </a:r>
          </a:p>
        </p:txBody>
      </p:sp>
      <p:sp>
        <p:nvSpPr>
          <p:cNvPr name="TextBox 16" id="16"/>
          <p:cNvSpPr txBox="true"/>
          <p:nvPr/>
        </p:nvSpPr>
        <p:spPr>
          <a:xfrm rot="-5400000">
            <a:off x="533400" y="4991100"/>
            <a:ext cx="26416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국내산</a:t>
            </a:r>
            <a:r>
              <a:rPr lang="en-US" sz="1600" b="false" i="false" u="none" strike="noStrike" spc="500">
                <a:solidFill>
                  <a:srgbClr val="715130"/>
                </a:solidFill>
                <a:latin typeface="Pretendard Medium"/>
              </a:rPr>
              <a:t> </a:t>
            </a: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원목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568700" y="5194300"/>
            <a:ext cx="11137900" cy="1854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104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프로그램</a:t>
            </a:r>
            <a:r>
              <a:rPr lang="en-US" sz="104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제안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372100" y="3581400"/>
            <a:ext cx="75438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8000" b="false" i="false" u="none" strike="noStrike" spc="-100">
                <a:solidFill>
                  <a:srgbClr val="B0966E"/>
                </a:solidFill>
                <a:ea typeface="esamanru OTF Medium"/>
              </a:rPr>
              <a:t>탄소중립과</a:t>
            </a:r>
            <a:r>
              <a:rPr lang="en-US" sz="8000" b="false" i="false" u="none" strike="noStrike" spc="-100">
                <a:solidFill>
                  <a:srgbClr val="B0966E"/>
                </a:solidFill>
                <a:latin typeface="esamanru OTF Medium"/>
              </a:rPr>
              <a:t> ESG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87900" y="2527300"/>
            <a:ext cx="86995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우스레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공방의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원목을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활용한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422400" y="1955800"/>
            <a:ext cx="4140200" cy="8890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Pretendard ExtraBold"/>
              </a:rPr>
              <a:t>목차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5908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교육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구성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113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740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운영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방식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818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334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ESG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및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탄소중립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기여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539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5908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기대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효과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13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07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8740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홍보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및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시민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캠페인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7818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334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우스레공방의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비전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539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5908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프로그램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개요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113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740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추진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배경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818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2334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교육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목적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539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756400" y="2540000"/>
            <a:ext cx="1587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00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874000" y="25908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우스레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공방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소개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1879600"/>
            <a:ext cx="15430500" cy="127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4241800" y="3594100"/>
            <a:ext cx="9677400" cy="3632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우스레</a:t>
            </a:r>
            <a:r>
              <a:rPr lang="en-US" sz="11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공방</a:t>
            </a:r>
          </a:p>
          <a:p>
            <a:pPr algn="ctr" lvl="0">
              <a:lnSpc>
                <a:spcPct val="99600"/>
              </a:lnSpc>
            </a:pP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소개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06000" y="1409700"/>
            <a:ext cx="6858000" cy="355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2000" b="false" i="false" u="none" strike="noStrike" spc="100">
                <a:solidFill>
                  <a:srgbClr val="B0966E"/>
                </a:solidFill>
                <a:latin typeface="Pretendard Medium"/>
              </a:rPr>
              <a:t> INSERTED PAGE SHOWING TITLE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24000" y="1409700"/>
            <a:ext cx="6858000" cy="355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8729"/>
              </a:lnSpc>
            </a:pPr>
            <a:r>
              <a:rPr lang="en-US" sz="2000" b="false" i="false" u="none" strike="noStrike" spc="100">
                <a:solidFill>
                  <a:srgbClr val="B0966E"/>
                </a:solidFill>
                <a:latin typeface="Pretendard Medium"/>
              </a:rPr>
              <a:t>CONTENTS 00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기본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정보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 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6600" y="1778000"/>
            <a:ext cx="14262100" cy="7518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이름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우스레공방</a:t>
            </a:r>
          </a:p>
          <a:p>
            <a:pPr algn="ctr" lvl="0">
              <a:lnSpc>
                <a:spcPct val="116199"/>
              </a:lnSpc>
            </a:pP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/>
            </a:r>
          </a:p>
          <a:p>
            <a:pPr algn="ctr" lvl="0">
              <a:lnSpc>
                <a:spcPct val="116199"/>
              </a:lnSpc>
            </a:pP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위치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의정부시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동일로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513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번길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7</a:t>
            </a:r>
          </a:p>
          <a:p>
            <a:pPr algn="ctr" lvl="0">
              <a:lnSpc>
                <a:spcPct val="116199"/>
              </a:lnSpc>
            </a:pP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/>
            </a:r>
          </a:p>
          <a:p>
            <a:pPr algn="ctr" lvl="0">
              <a:lnSpc>
                <a:spcPct val="116199"/>
              </a:lnSpc>
            </a:pP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연락처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: 010-5539-7868 / pcm9651@naver.com</a:t>
            </a:r>
          </a:p>
          <a:p>
            <a:pPr algn="ctr" lvl="0">
              <a:lnSpc>
                <a:spcPct val="116199"/>
              </a:lnSpc>
            </a:pP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/>
            </a:r>
          </a:p>
          <a:p>
            <a:pPr algn="ctr" lvl="0">
              <a:lnSpc>
                <a:spcPct val="116199"/>
              </a:lnSpc>
            </a:pP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운영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형태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목공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체험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및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교육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전문</a:t>
            </a:r>
            <a:r>
              <a:rPr lang="en-US" sz="5300" b="false" i="false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false" i="false" u="none" strike="noStrike">
                <a:solidFill>
                  <a:srgbClr val="000000"/>
                </a:solidFill>
                <a:ea typeface="esamanru OTF Medium"/>
              </a:rPr>
              <a:t>공방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주요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활동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0">
            <a:off x="1308100" y="3098800"/>
            <a:ext cx="2451100" cy="12446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371600" y="3276600"/>
            <a:ext cx="2324100" cy="863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국내산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원목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활용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체험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4165600" y="3238500"/>
            <a:ext cx="1524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>
            <a:alphaModFix amt="7000"/>
          </a:blip>
          <a:stretch>
            <a:fillRect/>
          </a:stretch>
        </p:blipFill>
        <p:spPr>
          <a:xfrm rot="0">
            <a:off x="4635500" y="2679700"/>
            <a:ext cx="12560300" cy="20574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5118100" y="34925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탄소저장량을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표시한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도마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소품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제작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등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0">
            <a:off x="1308100" y="5956300"/>
            <a:ext cx="2451100" cy="12446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384300" y="6134100"/>
            <a:ext cx="2324100" cy="863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ESG·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탄소중립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교육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연계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4165600" y="6096000"/>
            <a:ext cx="152400" cy="952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8">
            <a:alphaModFix amt="7000"/>
          </a:blip>
          <a:stretch>
            <a:fillRect/>
          </a:stretch>
        </p:blipFill>
        <p:spPr>
          <a:xfrm rot="0">
            <a:off x="4648200" y="5549900"/>
            <a:ext cx="12560300" cy="20574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70500" y="63500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학교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기관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기업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대상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수업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워크숍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주요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활동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0">
            <a:off x="1308100" y="3098800"/>
            <a:ext cx="2451100" cy="12446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371600" y="3492500"/>
            <a:ext cx="23241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양성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4165600" y="3238500"/>
            <a:ext cx="1524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>
            <a:alphaModFix amt="7000"/>
          </a:blip>
          <a:stretch>
            <a:fillRect/>
          </a:stretch>
        </p:blipFill>
        <p:spPr>
          <a:xfrm rot="0">
            <a:off x="4635500" y="2679700"/>
            <a:ext cx="12560300" cy="20574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5118100" y="34925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목공예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전문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레진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목공예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지도사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배출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0">
            <a:off x="1308100" y="5956300"/>
            <a:ext cx="2451100" cy="12446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384300" y="6134100"/>
            <a:ext cx="2324100" cy="863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학교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기관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프로그램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4165600" y="6096000"/>
            <a:ext cx="152400" cy="952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8">
            <a:alphaModFix amt="7000"/>
          </a:blip>
          <a:stretch>
            <a:fillRect/>
          </a:stretch>
        </p:blipFill>
        <p:spPr>
          <a:xfrm rot="0">
            <a:off x="4648200" y="5549900"/>
            <a:ext cx="12560300" cy="20574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70500" y="63500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평생학습원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청소년수련관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치매안심센터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꿈길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체험공방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등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등록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활동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42400" y="5524500"/>
            <a:ext cx="8077200" cy="1612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국산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원목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사용을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통한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탄소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저장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효과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강조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실천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42400" y="5524500"/>
            <a:ext cx="8077200" cy="1612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체험을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통한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실습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중심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학습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창의력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·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손기술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발달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42400" y="5524500"/>
            <a:ext cx="8077200" cy="1612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지역사회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연계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양성을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통한</a:t>
            </a:r>
          </a:p>
          <a:p>
            <a:pPr algn="l" lvl="0">
              <a:lnSpc>
                <a:spcPct val="141100"/>
              </a:lnSpc>
            </a:pP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일자리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교육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확대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사회적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가치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실현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343149" y="3759200"/>
            <a:ext cx="13601700" cy="3670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프로그램명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탄소저장량이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표시된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만들기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체험운영주체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우스레공방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의정부시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동일로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513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번길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7)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대상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학교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 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시민단체운영형태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출장형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공방형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학교수업형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“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원목으로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실천해보는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내가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만드는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ESG”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프로그램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개요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4508500"/>
            <a:ext cx="2755900" cy="275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119100" y="4368800"/>
            <a:ext cx="3352800" cy="29591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4635500" y="4635500"/>
            <a:ext cx="83439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기후위기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대응과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필요성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ESG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가치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확산과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생활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속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실천의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부족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활용의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환경적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사회적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의미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추진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배경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781300" y="4229100"/>
            <a:ext cx="128143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통해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탄소중립의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의미와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실천방법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체험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 ESG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가치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환경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사회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지배구조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)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통합한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참여형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프로그램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의정부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탄소저감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문화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확산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자원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순환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임업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활성화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기여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목적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3327400" y="4559300"/>
            <a:ext cx="128143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1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이해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이론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2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원목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제작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체험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실습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3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서약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공유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구성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6718300" y="3657600"/>
            <a:ext cx="5549900" cy="787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탄소중립</a:t>
            </a:r>
            <a:r>
              <a:rPr lang="en-US" sz="4400" b="0" i="0" u="none" strike="noStrike">
                <a:solidFill>
                  <a:srgbClr val="3a4ca8"/>
                </a:solidFill>
                <a:latin typeface="Pretendard Bold"/>
              </a:rPr>
              <a:t> </a:t>
            </a: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실천</a:t>
            </a:r>
            <a:r>
              <a:rPr lang="en-US" sz="4400" b="0" i="0" u="none" strike="noStrike">
                <a:solidFill>
                  <a:srgbClr val="3a4ca8"/>
                </a:solidFill>
                <a:latin typeface="Pretendard Bold"/>
              </a:rPr>
              <a:t> </a:t>
            </a: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서약서</a:t>
            </a:r>
            <a:endParaRPr lang="ko-KR" sz="4400" b="0" i="0" u="none" strike="noStrike">
              <a:solidFill>
                <a:srgbClr val="3a4ca8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서약서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22700" y="5194300"/>
            <a:ext cx="107442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본인은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기후위기의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심각성을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인식하고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지구환경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보호와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지속가능한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미래를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위하여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일상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속에서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적극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동참할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것을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다짐하며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다음과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같이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서약합니다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일회용품과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플라스틱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사용을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줄이고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재사용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가능한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물품을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사용하겠습니다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 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822700" y="4191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전기와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물을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아껴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쓰고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에너지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효율을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높이는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생활을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22700" y="62103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대중교통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이용과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걷기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자전거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타기를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생활화하겠습니다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음식물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쓰레기를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줄이고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친환경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식생활을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822700" y="4572000"/>
            <a:ext cx="10744200" cy="685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국산목제품과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친환경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제품을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우선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소비하겠습니다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22700" y="62103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나무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심기와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탄소흡수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활동에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자발적으로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참여하겠습니다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927100" y="80645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중요성을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주변에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알리고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함께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실천하도록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노력하겠습니다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2700" y="4191000"/>
            <a:ext cx="12484100" cy="1422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서약을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성실히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이행하여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건강한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지구와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미래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세대를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위한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탄소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중립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사회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실현에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앞장설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것을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다짐합니다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.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848100" y="6540500"/>
            <a:ext cx="11239500" cy="1422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2025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월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일</a:t>
            </a:r>
            <a:endParaRPr lang="ko-KR" sz="3800" b="0" i="0" u="none" strike="noStrike">
              <a:solidFill>
                <a:srgbClr val="00000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서약자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성명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: ___________(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서명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또는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날인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)   </a:t>
            </a:r>
            <a:endParaRPr lang="ko-KR" sz="3800" b="0" i="0" u="none" strike="noStrike">
              <a:solidFill>
                <a:srgbClr val="00000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전화번호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2603500" y="4191000"/>
            <a:ext cx="14249400" cy="2933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출장형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최대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50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2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시간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1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인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70,000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원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공방형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최대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10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2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시간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동일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조건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학교형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30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내외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재료비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20,000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원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강사비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100,000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원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(2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기준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※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평생학습원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청소년수련관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등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산하기관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연계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가능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운영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방식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895600" y="4127500"/>
            <a:ext cx="12966700" cy="2997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E(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환경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사용으로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수입목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운송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탄소배출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저감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 </a:t>
            </a:r>
            <a:endParaRPr lang="en-US" sz="39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1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= 1.2kg CO₂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저장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S(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강사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양성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일자리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창출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임업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활성화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G(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지배구조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보고서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캠페인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자료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활용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가능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ESG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기여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6134100" y="3162300"/>
            <a:ext cx="6172200" cy="57912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ESG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기여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127250" y="3771900"/>
            <a:ext cx="14033500" cy="3759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참가자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탄소저장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체험으로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의지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en-US" sz="39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강화기관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/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ESG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평가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개선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사회공헌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효과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지역사회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순환경제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환경의식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향상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의정부시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거점도시로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이미지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강화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대국민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방송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신문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SNS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통한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전국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확산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추진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기대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효과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879600" y="4013200"/>
            <a:ext cx="14528800" cy="29591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SNS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챌린지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(#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내가만든도마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#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의정부탄소중립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)</a:t>
            </a:r>
            <a:endParaRPr lang="en-US" sz="54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언론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보고서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연계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endParaRPr lang="ko-KR" sz="54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“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시민이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만드는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탄소저장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문화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!”</a:t>
            </a:r>
            <a:endParaRPr lang="en-US" sz="5400" b="0" i="0" u="none" strike="noStrike">
              <a:solidFill>
                <a:srgbClr val="715130"/>
              </a:solidFill>
              <a:latin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홍보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시민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캠페인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768600" y="4127500"/>
            <a:ext cx="12750800" cy="2806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체험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플랫폼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구축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지속가능한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환경교육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+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사회적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일자리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창출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의정부에서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전국으로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확산되는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시민참여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모델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우스레공방의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비전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625600" y="4267200"/>
            <a:ext cx="15100300" cy="16510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9300" b="false" i="false" u="none" strike="noStrike">
                <a:solidFill>
                  <a:srgbClr val="715130"/>
                </a:solidFill>
                <a:ea typeface="esamanru OTF Bold"/>
              </a:rPr>
              <a:t>감사합니다</a:t>
            </a:r>
            <a:r>
              <a:rPr lang="en-US" sz="9300" b="false" i="false" u="none" strike="noStrike">
                <a:solidFill>
                  <a:srgbClr val="715130"/>
                </a:solidFill>
                <a:latin typeface="esamanru OTF Bold"/>
              </a:rPr>
              <a:t>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50500" y="1041400"/>
            <a:ext cx="6845300" cy="279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1600" b="false" i="false" u="none" strike="noStrike" spc="100">
                <a:solidFill>
                  <a:srgbClr val="B0966E"/>
                </a:solidFill>
                <a:latin typeface="Pretendard Medium"/>
              </a:rPr>
              <a:t>PAGE 07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525</ep:Words>
  <ep:PresentationFormat>On-screen Show (4:3)</ep:PresentationFormat>
  <ep:Paragraphs>143</ep:Paragraphs>
  <ep:Slides>24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user</cp:lastModifiedBy>
  <dcterms:modified xsi:type="dcterms:W3CDTF">2025-10-24T03:14:44.080</dcterms:modified>
  <cp:revision>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