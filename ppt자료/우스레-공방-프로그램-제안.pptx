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00" d="100"/>
          <a:sy n="100" d="100"/>
        </p:scale>
        <p:origin x="-1092" y="-90"/>
      </p:cViewPr>
      <p:guideLst>
        <p:guide orient="horz" pos="2155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9.xml"  /><Relationship Id="rId11" Type="http://schemas.openxmlformats.org/officeDocument/2006/relationships/slide" Target="slides/slide10.xml"  /><Relationship Id="rId12" Type="http://schemas.openxmlformats.org/officeDocument/2006/relationships/slide" Target="slides/slide11.xml"  /><Relationship Id="rId13" Type="http://schemas.openxmlformats.org/officeDocument/2006/relationships/slide" Target="slides/slide12.xml"  /><Relationship Id="rId14" Type="http://schemas.openxmlformats.org/officeDocument/2006/relationships/slide" Target="slides/slide13.xml"  /><Relationship Id="rId15" Type="http://schemas.openxmlformats.org/officeDocument/2006/relationships/slide" Target="slides/slide14.xml"  /><Relationship Id="rId16" Type="http://schemas.openxmlformats.org/officeDocument/2006/relationships/slide" Target="slides/slide15.xml"  /><Relationship Id="rId17" Type="http://schemas.openxmlformats.org/officeDocument/2006/relationships/slide" Target="slides/slide16.xml"  /><Relationship Id="rId18" Type="http://schemas.openxmlformats.org/officeDocument/2006/relationships/slide" Target="slides/slide17.xml"  /><Relationship Id="rId19" Type="http://schemas.openxmlformats.org/officeDocument/2006/relationships/slide" Target="slides/slide18.xml"  /><Relationship Id="rId2" Type="http://schemas.openxmlformats.org/officeDocument/2006/relationships/slide" Target="slides/slide1.xml"  /><Relationship Id="rId20" Type="http://schemas.openxmlformats.org/officeDocument/2006/relationships/slide" Target="slides/slide19.xml"  /><Relationship Id="rId21" Type="http://schemas.openxmlformats.org/officeDocument/2006/relationships/slide" Target="slides/slide20.xml"  /><Relationship Id="rId22" Type="http://schemas.openxmlformats.org/officeDocument/2006/relationships/slide" Target="slides/slide21.xml"  /><Relationship Id="rId23" Type="http://schemas.openxmlformats.org/officeDocument/2006/relationships/slide" Target="slides/slide22.xml"  /><Relationship Id="rId24" Type="http://schemas.openxmlformats.org/officeDocument/2006/relationships/slide" Target="slides/slide23.xml"  /><Relationship Id="rId25" Type="http://schemas.openxmlformats.org/officeDocument/2006/relationships/slide" Target="slides/slide24.xml"  /><Relationship Id="rId26" Type="http://schemas.openxmlformats.org/officeDocument/2006/relationships/presProps" Target="presProps.xml"  /><Relationship Id="rId27" Type="http://schemas.openxmlformats.org/officeDocument/2006/relationships/viewProps" Target="viewProps.xml"  /><Relationship Id="rId28" Type="http://schemas.openxmlformats.org/officeDocument/2006/relationships/theme" Target="theme/theme1.xml"  /><Relationship Id="rId29" Type="http://schemas.openxmlformats.org/officeDocument/2006/relationships/tableStyles" Target="tableStyles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slide" Target="slides/slide4.xml"  /><Relationship Id="rId6" Type="http://schemas.openxmlformats.org/officeDocument/2006/relationships/slide" Target="slides/slide5.xml"  /><Relationship Id="rId7" Type="http://schemas.openxmlformats.org/officeDocument/2006/relationships/slide" Target="slides/slide6.xml"  /><Relationship Id="rId8" Type="http://schemas.openxmlformats.org/officeDocument/2006/relationships/slide" Target="slides/slide7.xml"  /><Relationship Id="rId9" Type="http://schemas.openxmlformats.org/officeDocument/2006/relationships/slide" Target="slides/slide8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5.png"  /><Relationship Id="rId7" Type="http://schemas.openxmlformats.org/officeDocument/2006/relationships/image" Target="../media/image6.png"  /><Relationship Id="rId8" Type="http://schemas.openxmlformats.org/officeDocument/2006/relationships/image" Target="../media/image7.png"  /><Relationship Id="rId9" Type="http://schemas.openxmlformats.org/officeDocument/2006/relationships/image" Target="../media/image8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5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5.png"  /><Relationship Id="rId7" Type="http://schemas.openxmlformats.org/officeDocument/2006/relationships/image" Target="../media/image6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3.png"  /><Relationship Id="rId3" Type="http://schemas.openxmlformats.org/officeDocument/2006/relationships/image" Target="../media/image4.png"  /><Relationship Id="rId4" Type="http://schemas.openxmlformats.org/officeDocument/2006/relationships/image" Target="../media/image4.png"  /><Relationship Id="rId5" Type="http://schemas.openxmlformats.org/officeDocument/2006/relationships/image" Target="../media/image5.png"  /><Relationship Id="rId6" Type="http://schemas.openxmlformats.org/officeDocument/2006/relationships/image" Target="../media/image9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10" Type="http://schemas.openxmlformats.org/officeDocument/2006/relationships/image" Target="../media/image10.png"  /><Relationship Id="rId11" Type="http://schemas.openxmlformats.org/officeDocument/2006/relationships/image" Target="../media/image11.png"  /><Relationship Id="rId12" Type="http://schemas.openxmlformats.org/officeDocument/2006/relationships/image" Target="../media/image12.png"  /><Relationship Id="rId2" Type="http://schemas.openxmlformats.org/officeDocument/2006/relationships/image" Target="../media/image3.png"  /><Relationship Id="rId3" Type="http://schemas.openxmlformats.org/officeDocument/2006/relationships/image" Target="../media/image4.png"  /><Relationship Id="rId4" Type="http://schemas.openxmlformats.org/officeDocument/2006/relationships/image" Target="../media/image4.png"  /><Relationship Id="rId5" Type="http://schemas.openxmlformats.org/officeDocument/2006/relationships/image" Target="../media/image5.png"  /><Relationship Id="rId6" Type="http://schemas.openxmlformats.org/officeDocument/2006/relationships/image" Target="../media/image9.png"  /><Relationship Id="rId7" Type="http://schemas.openxmlformats.org/officeDocument/2006/relationships/image" Target="../media/image10.png"  /><Relationship Id="rId8" Type="http://schemas.openxmlformats.org/officeDocument/2006/relationships/image" Target="../media/image11.png"  /><Relationship Id="rId9" Type="http://schemas.openxmlformats.org/officeDocument/2006/relationships/image" Target="../media/image12.pn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10" Type="http://schemas.openxmlformats.org/officeDocument/2006/relationships/image" Target="../media/image10.png"  /><Relationship Id="rId11" Type="http://schemas.openxmlformats.org/officeDocument/2006/relationships/image" Target="../media/image11.png"  /><Relationship Id="rId12" Type="http://schemas.openxmlformats.org/officeDocument/2006/relationships/image" Target="../media/image12.png"  /><Relationship Id="rId2" Type="http://schemas.openxmlformats.org/officeDocument/2006/relationships/image" Target="../media/image3.png"  /><Relationship Id="rId3" Type="http://schemas.openxmlformats.org/officeDocument/2006/relationships/image" Target="../media/image4.png"  /><Relationship Id="rId4" Type="http://schemas.openxmlformats.org/officeDocument/2006/relationships/image" Target="../media/image4.png"  /><Relationship Id="rId5" Type="http://schemas.openxmlformats.org/officeDocument/2006/relationships/image" Target="../media/image5.png"  /><Relationship Id="rId6" Type="http://schemas.openxmlformats.org/officeDocument/2006/relationships/image" Target="../media/image9.png"  /><Relationship Id="rId7" Type="http://schemas.openxmlformats.org/officeDocument/2006/relationships/image" Target="../media/image10.png"  /><Relationship Id="rId8" Type="http://schemas.openxmlformats.org/officeDocument/2006/relationships/image" Target="../media/image11.png"  /><Relationship Id="rId9" Type="http://schemas.openxmlformats.org/officeDocument/2006/relationships/image" Target="../media/image12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3.png"  /><Relationship Id="rId3" Type="http://schemas.openxmlformats.org/officeDocument/2006/relationships/image" Target="../media/image4.png"  /><Relationship Id="rId4" Type="http://schemas.openxmlformats.org/officeDocument/2006/relationships/image" Target="../media/image5.png"  /><Relationship Id="rId5" Type="http://schemas.openxmlformats.org/officeDocument/2006/relationships/image" Target="../media/image9.png"  /><Relationship Id="rId6" Type="http://schemas.openxmlformats.org/officeDocument/2006/relationships/image" Target="../media/image13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3.png"  /><Relationship Id="rId3" Type="http://schemas.openxmlformats.org/officeDocument/2006/relationships/image" Target="../media/image4.png"  /><Relationship Id="rId4" Type="http://schemas.openxmlformats.org/officeDocument/2006/relationships/image" Target="../media/image5.png"  /><Relationship Id="rId5" Type="http://schemas.openxmlformats.org/officeDocument/2006/relationships/image" Target="../media/image9.png"  /><Relationship Id="rId6" Type="http://schemas.openxmlformats.org/officeDocument/2006/relationships/image" Target="../media/image14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3.png"  /><Relationship Id="rId3" Type="http://schemas.openxmlformats.org/officeDocument/2006/relationships/image" Target="../media/image4.png"  /><Relationship Id="rId4" Type="http://schemas.openxmlformats.org/officeDocument/2006/relationships/image" Target="../media/image4.png"  /><Relationship Id="rId5" Type="http://schemas.openxmlformats.org/officeDocument/2006/relationships/image" Target="../media/image5.png"  /><Relationship Id="rId6" Type="http://schemas.openxmlformats.org/officeDocument/2006/relationships/image" Target="../media/image9.png"  /><Relationship Id="rId7" Type="http://schemas.openxmlformats.org/officeDocument/2006/relationships/image" Target="../media/image15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Relationship Id="rId8" Type="http://schemas.openxmlformats.org/officeDocument/2006/relationships/image" Target="../media/image6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10" Type="http://schemas.openxmlformats.org/officeDocument/2006/relationships/image" Target="../media/image17.png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Relationship Id="rId8" Type="http://schemas.openxmlformats.org/officeDocument/2006/relationships/image" Target="../media/image6.png"  /><Relationship Id="rId9" Type="http://schemas.openxmlformats.org/officeDocument/2006/relationships/image" Target="../media/image16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Relationship Id="rId8" Type="http://schemas.openxmlformats.org/officeDocument/2006/relationships/image" Target="../media/image6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Relationship Id="rId8" Type="http://schemas.openxmlformats.org/officeDocument/2006/relationships/image" Target="../media/image6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Relationship Id="rId8" Type="http://schemas.openxmlformats.org/officeDocument/2006/relationships/image" Target="../media/image6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18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Relationship Id="rId8" Type="http://schemas.openxmlformats.org/officeDocument/2006/relationships/image" Target="../media/image6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Relationship Id="rId8" Type="http://schemas.openxmlformats.org/officeDocument/2006/relationships/image" Target="../media/image6.png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Relationship Id="rId8" Type="http://schemas.openxmlformats.org/officeDocument/2006/relationships/image" Target="../media/image6.png"  /><Relationship Id="rId9" Type="http://schemas.openxmlformats.org/officeDocument/2006/relationships/image" Target="../media/image19.png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Relationship Id="rId8" Type="http://schemas.openxmlformats.org/officeDocument/2006/relationships/image" Target="../media/image6.png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Relationship Id="rId8" Type="http://schemas.openxmlformats.org/officeDocument/2006/relationships/image" Target="../media/image6.png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Relationship Id="rId8" Type="http://schemas.openxmlformats.org/officeDocument/2006/relationships/image" Target="../media/image6.png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4.png"  /><Relationship Id="rId7" Type="http://schemas.openxmlformats.org/officeDocument/2006/relationships/image" Target="../media/image5.png"  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435100" y="8166100"/>
            <a:ext cx="15430500" cy="127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6383000" y="6616700"/>
            <a:ext cx="114300" cy="1143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6383000" y="3556000"/>
            <a:ext cx="114300" cy="1143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790700" y="6616700"/>
            <a:ext cx="114300" cy="1143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790700" y="3556000"/>
            <a:ext cx="114300" cy="1143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4025900" y="2374900"/>
            <a:ext cx="10236200" cy="812800"/>
          </a:xfrm>
          <a:prstGeom prst="rect">
            <a:avLst/>
          </a:prstGeom>
        </p:spPr>
      </p:pic>
      <p:sp>
        <p:nvSpPr>
          <p:cNvPr name="TextBox 14" id="14"/>
          <p:cNvSpPr txBox="true"/>
          <p:nvPr/>
        </p:nvSpPr>
        <p:spPr>
          <a:xfrm rot="0">
            <a:off x="1435100" y="8394700"/>
            <a:ext cx="15417800" cy="317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08729"/>
              </a:lnSpc>
            </a:pPr>
            <a:r>
              <a:rPr lang="ko-KR" sz="1800" b="false" i="false" u="none" strike="noStrike" spc="500">
                <a:solidFill>
                  <a:srgbClr val="B0966E"/>
                </a:solidFill>
                <a:ea typeface="Pretendard Regular"/>
              </a:rPr>
              <a:t>우스레</a:t>
            </a:r>
            <a:r>
              <a:rPr lang="en-US" sz="1800" b="false" i="false" u="none" strike="noStrike" spc="500">
                <a:solidFill>
                  <a:srgbClr val="B0966E"/>
                </a:solidFill>
                <a:latin typeface="Pretendard Regular"/>
              </a:rPr>
              <a:t> </a:t>
            </a:r>
            <a:r>
              <a:rPr lang="ko-KR" sz="1800" b="false" i="false" u="none" strike="noStrike" spc="500">
                <a:solidFill>
                  <a:srgbClr val="B0966E"/>
                </a:solidFill>
                <a:ea typeface="Pretendard Regular"/>
              </a:rPr>
              <a:t>공방</a:t>
            </a:r>
          </a:p>
        </p:txBody>
      </p:sp>
      <p:sp>
        <p:nvSpPr>
          <p:cNvPr name="TextBox 15" id="15"/>
          <p:cNvSpPr txBox="true"/>
          <p:nvPr/>
        </p:nvSpPr>
        <p:spPr>
          <a:xfrm rot="5400000">
            <a:off x="15227300" y="4991100"/>
            <a:ext cx="2413000" cy="2921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1600" b="false" i="false" u="none" strike="noStrike" spc="500">
                <a:solidFill>
                  <a:srgbClr val="715130"/>
                </a:solidFill>
                <a:ea typeface="Pretendard Medium"/>
              </a:rPr>
              <a:t>탄소중립과</a:t>
            </a:r>
            <a:r>
              <a:rPr lang="en-US" sz="1600" b="false" i="false" u="none" strike="noStrike" spc="500">
                <a:solidFill>
                  <a:srgbClr val="715130"/>
                </a:solidFill>
                <a:latin typeface="Pretendard Medium"/>
              </a:rPr>
              <a:t> ESG</a:t>
            </a:r>
          </a:p>
        </p:txBody>
      </p:sp>
      <p:sp>
        <p:nvSpPr>
          <p:cNvPr name="TextBox 16" id="16"/>
          <p:cNvSpPr txBox="true"/>
          <p:nvPr/>
        </p:nvSpPr>
        <p:spPr>
          <a:xfrm rot="-5400000">
            <a:off x="533400" y="4991100"/>
            <a:ext cx="2641600" cy="2921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1600" b="false" i="false" u="none" strike="noStrike" spc="500">
                <a:solidFill>
                  <a:srgbClr val="715130"/>
                </a:solidFill>
                <a:ea typeface="Pretendard Medium"/>
              </a:rPr>
              <a:t>국내산</a:t>
            </a:r>
            <a:r>
              <a:rPr lang="en-US" sz="1600" b="false" i="false" u="none" strike="noStrike" spc="500">
                <a:solidFill>
                  <a:srgbClr val="715130"/>
                </a:solidFill>
                <a:latin typeface="Pretendard Medium"/>
              </a:rPr>
              <a:t> </a:t>
            </a:r>
            <a:r>
              <a:rPr lang="ko-KR" sz="1600" b="false" i="false" u="none" strike="noStrike" spc="500">
                <a:solidFill>
                  <a:srgbClr val="715130"/>
                </a:solidFill>
                <a:ea typeface="Pretendard Medium"/>
              </a:rPr>
              <a:t>원목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568700" y="5194300"/>
            <a:ext cx="11137900" cy="1854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08729"/>
              </a:lnSpc>
            </a:pPr>
            <a:r>
              <a:rPr lang="ko-KR" sz="10400" b="false" i="false" u="none" strike="noStrike">
                <a:solidFill>
                  <a:srgbClr val="715130"/>
                </a:solidFill>
                <a:ea typeface="esamanru OTF Bold"/>
              </a:rPr>
              <a:t>교육</a:t>
            </a:r>
            <a:r>
              <a:rPr lang="en-US" sz="104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10400" b="false" i="false" u="none" strike="noStrike">
                <a:solidFill>
                  <a:srgbClr val="715130"/>
                </a:solidFill>
                <a:ea typeface="esamanru OTF Bold"/>
              </a:rPr>
              <a:t>프로그램</a:t>
            </a:r>
            <a:r>
              <a:rPr lang="en-US" sz="104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10400" b="false" i="false" u="none" strike="noStrike">
                <a:solidFill>
                  <a:srgbClr val="715130"/>
                </a:solidFill>
                <a:ea typeface="esamanru OTF Bold"/>
              </a:rPr>
              <a:t>제안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5372100" y="3581400"/>
            <a:ext cx="7543800" cy="1422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08729"/>
              </a:lnSpc>
            </a:pPr>
            <a:r>
              <a:rPr lang="ko-KR" sz="8000" b="false" i="false" u="none" strike="noStrike" spc="-100">
                <a:solidFill>
                  <a:srgbClr val="B0966E"/>
                </a:solidFill>
                <a:ea typeface="esamanru OTF Medium"/>
              </a:rPr>
              <a:t>탄소중립과</a:t>
            </a:r>
            <a:r>
              <a:rPr lang="en-US" sz="8000" b="false" i="false" u="none" strike="noStrike" spc="-100">
                <a:solidFill>
                  <a:srgbClr val="B0966E"/>
                </a:solidFill>
                <a:latin typeface="esamanru OTF Medium"/>
              </a:rPr>
              <a:t> ESG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787900" y="2527300"/>
            <a:ext cx="8699500" cy="495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08729"/>
              </a:lnSpc>
            </a:pPr>
            <a:r>
              <a:rPr lang="ko-KR" sz="2800" b="false" i="false" u="none" strike="noStrike" spc="100">
                <a:solidFill>
                  <a:srgbClr val="715130"/>
                </a:solidFill>
                <a:ea typeface="Pretendard Bold"/>
              </a:rPr>
              <a:t>우스레</a:t>
            </a:r>
            <a:r>
              <a:rPr lang="en-US" sz="2800" b="false" i="false" u="none" strike="noStrike" spc="100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2800" b="false" i="false" u="none" strike="noStrike" spc="100">
                <a:solidFill>
                  <a:srgbClr val="715130"/>
                </a:solidFill>
                <a:ea typeface="Pretendard Bold"/>
              </a:rPr>
              <a:t>공방의</a:t>
            </a:r>
            <a:r>
              <a:rPr lang="en-US" sz="2800" b="false" i="false" u="none" strike="noStrike" spc="100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2800" b="false" i="false" u="none" strike="noStrike" spc="100">
                <a:solidFill>
                  <a:srgbClr val="715130"/>
                </a:solidFill>
                <a:ea typeface="Pretendard Bold"/>
              </a:rPr>
              <a:t>국내산</a:t>
            </a:r>
            <a:r>
              <a:rPr lang="en-US" sz="2800" b="false" i="false" u="none" strike="noStrike" spc="100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2800" b="false" i="false" u="none" strike="noStrike" spc="100">
                <a:solidFill>
                  <a:srgbClr val="715130"/>
                </a:solidFill>
                <a:ea typeface="Pretendard Bold"/>
              </a:rPr>
              <a:t>원목을</a:t>
            </a:r>
            <a:r>
              <a:rPr lang="en-US" sz="2800" b="false" i="false" u="none" strike="noStrike" spc="100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2800" b="false" i="false" u="none" strike="noStrike" spc="100">
                <a:solidFill>
                  <a:srgbClr val="715130"/>
                </a:solidFill>
                <a:ea typeface="Pretendard Bold"/>
              </a:rPr>
              <a:t>활용한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1422400" y="1955800"/>
            <a:ext cx="4140200" cy="8890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5000" b="false" i="false" u="none" strike="noStrike">
                <a:solidFill>
                  <a:srgbClr val="000000"/>
                </a:solidFill>
                <a:ea typeface="Pretendard ExtraBold"/>
              </a:rPr>
              <a:t>목차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590800" y="6159500"/>
            <a:ext cx="3695700" cy="482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교육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구성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11300" y="6108700"/>
            <a:ext cx="952500" cy="596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3300" b="false" i="false" u="none" strike="noStrike">
                <a:solidFill>
                  <a:srgbClr val="000000"/>
                </a:solidFill>
                <a:latin typeface="Pretendard ExtraBold"/>
              </a:rPr>
              <a:t>04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874000" y="6159500"/>
            <a:ext cx="3695700" cy="482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운영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방식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781800" y="6108700"/>
            <a:ext cx="952500" cy="596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3300" b="false" i="false" u="none" strike="noStrike">
                <a:solidFill>
                  <a:srgbClr val="000000"/>
                </a:solidFill>
                <a:latin typeface="Pretendard ExtraBold"/>
              </a:rPr>
              <a:t>05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233400" y="6159500"/>
            <a:ext cx="3695700" cy="482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ESG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및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탄소중립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기여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153900" y="6108700"/>
            <a:ext cx="952500" cy="596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3300" b="false" i="false" u="none" strike="noStrike">
                <a:solidFill>
                  <a:srgbClr val="000000"/>
                </a:solidFill>
                <a:latin typeface="Pretendard ExtraBold"/>
              </a:rPr>
              <a:t>06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590800" y="7899400"/>
            <a:ext cx="3695700" cy="482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기대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효과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11300" y="7848600"/>
            <a:ext cx="952500" cy="596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3300" b="false" i="false" u="none" strike="noStrike">
                <a:solidFill>
                  <a:srgbClr val="000000"/>
                </a:solidFill>
                <a:latin typeface="Pretendard ExtraBold"/>
              </a:rPr>
              <a:t>07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874000" y="7899400"/>
            <a:ext cx="3695700" cy="482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홍보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및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시민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캠페인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781800" y="7848600"/>
            <a:ext cx="952500" cy="596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3300" b="false" i="false" u="none" strike="noStrike">
                <a:solidFill>
                  <a:srgbClr val="000000"/>
                </a:solidFill>
                <a:latin typeface="Pretendard ExtraBold"/>
              </a:rPr>
              <a:t>08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233400" y="7899400"/>
            <a:ext cx="3695700" cy="482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우스레공방의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비전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153900" y="7848600"/>
            <a:ext cx="952500" cy="596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3300" b="false" i="false" u="none" strike="noStrike">
                <a:solidFill>
                  <a:srgbClr val="000000"/>
                </a:solidFill>
                <a:latin typeface="Pretendard ExtraBold"/>
              </a:rPr>
              <a:t>09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590800" y="4521200"/>
            <a:ext cx="3695700" cy="482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프로그램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개요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511300" y="4470400"/>
            <a:ext cx="952500" cy="596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3300" b="false" i="false" u="none" strike="noStrike">
                <a:solidFill>
                  <a:srgbClr val="000000"/>
                </a:solidFill>
                <a:latin typeface="Pretendard ExtraBold"/>
              </a:rPr>
              <a:t>01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874000" y="4521200"/>
            <a:ext cx="3695700" cy="482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추진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배경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781800" y="4470400"/>
            <a:ext cx="952500" cy="596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3300" b="false" i="false" u="none" strike="noStrike">
                <a:solidFill>
                  <a:srgbClr val="000000"/>
                </a:solidFill>
                <a:latin typeface="Pretendard ExtraBold"/>
              </a:rPr>
              <a:t>02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3233400" y="4521200"/>
            <a:ext cx="3695700" cy="482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교육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목적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153900" y="4470400"/>
            <a:ext cx="952500" cy="596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3300" b="false" i="false" u="none" strike="noStrike">
                <a:solidFill>
                  <a:srgbClr val="000000"/>
                </a:solidFill>
                <a:latin typeface="Pretendard ExtraBold"/>
              </a:rPr>
              <a:t>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756400" y="2540000"/>
            <a:ext cx="1587500" cy="596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en-US" sz="3300" b="false" i="false" u="none" strike="noStrike">
                <a:solidFill>
                  <a:srgbClr val="000000"/>
                </a:solidFill>
                <a:latin typeface="Pretendard ExtraBold"/>
              </a:rPr>
              <a:t>00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874000" y="2590800"/>
            <a:ext cx="3695700" cy="482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우스레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공방</a:t>
            </a:r>
            <a:r>
              <a:rPr lang="en-US" sz="2700" b="false" i="false" u="none" strike="noStrike">
                <a:solidFill>
                  <a:srgbClr val="715130"/>
                </a:solidFill>
                <a:latin typeface="Pretendard SemiBold"/>
              </a:rPr>
              <a:t> </a:t>
            </a:r>
            <a:r>
              <a:rPr lang="ko-KR" sz="2700" b="false" i="false" u="none" strike="noStrike">
                <a:solidFill>
                  <a:srgbClr val="715130"/>
                </a:solidFill>
                <a:ea typeface="Pretendard SemiBold"/>
              </a:rPr>
              <a:t>소개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435100" y="1879600"/>
            <a:ext cx="15430500" cy="127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4241800" y="3594100"/>
            <a:ext cx="9677400" cy="3632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11000" b="false" i="false" u="none" strike="noStrike">
                <a:solidFill>
                  <a:srgbClr val="715130"/>
                </a:solidFill>
                <a:ea typeface="esamanru OTF Bold"/>
              </a:rPr>
              <a:t>우스레</a:t>
            </a:r>
            <a:r>
              <a:rPr lang="en-US" sz="11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11000" b="false" i="false" u="none" strike="noStrike">
                <a:solidFill>
                  <a:srgbClr val="715130"/>
                </a:solidFill>
                <a:ea typeface="esamanru OTF Bold"/>
              </a:rPr>
              <a:t>공방</a:t>
            </a:r>
          </a:p>
          <a:p>
            <a:pPr algn="ctr" lvl="0">
              <a:lnSpc>
                <a:spcPct val="99600"/>
              </a:lnSpc>
            </a:pPr>
            <a:r>
              <a:rPr lang="ko-KR" sz="11000" b="false" i="false" u="none" strike="noStrike">
                <a:solidFill>
                  <a:srgbClr val="715130"/>
                </a:solidFill>
                <a:ea typeface="esamanru OTF Bold"/>
              </a:rPr>
              <a:t>소개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06000" y="1409700"/>
            <a:ext cx="6858000" cy="355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r" lvl="0">
              <a:lnSpc>
                <a:spcPct val="108729"/>
              </a:lnSpc>
            </a:pPr>
            <a:r>
              <a:rPr lang="en-US" sz="2000" b="false" i="false" u="none" strike="noStrike" spc="100">
                <a:solidFill>
                  <a:srgbClr val="B0966E"/>
                </a:solidFill>
                <a:latin typeface="Pretendard Medium"/>
              </a:rPr>
              <a:t> INSERTED PAGE SHOWING TITLE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524000" y="1409700"/>
            <a:ext cx="6858000" cy="355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08729"/>
              </a:lnSpc>
            </a:pPr>
            <a:r>
              <a:rPr lang="en-US" sz="2000" b="false" i="false" u="none" strike="noStrike" spc="100">
                <a:solidFill>
                  <a:srgbClr val="B0966E"/>
                </a:solidFill>
                <a:latin typeface="Pretendard Medium"/>
              </a:rPr>
              <a:t>CONTENTS 00</a:t>
            </a:r>
          </a:p>
        </p:txBody>
      </p:sp>
    </p:spTree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952500" y="1003300"/>
            <a:ext cx="88900" cy="4826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1181100" y="990600"/>
            <a:ext cx="162179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07899"/>
              </a:lnSpc>
            </a:pP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기본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정보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 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006600" y="1778000"/>
            <a:ext cx="14262100" cy="75184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ctr">
              <a:lnSpc>
                <a:spcPct val="116199"/>
              </a:lnSpc>
              <a:defRPr/>
            </a:pPr>
            <a:r>
              <a:rPr lang="ko-KR" altLang="en-US" sz="5300" b="0" i="0" u="none" strike="noStrike">
                <a:solidFill>
                  <a:srgbClr val="000000"/>
                </a:solidFill>
                <a:ea typeface="esamanru OTF Medium"/>
              </a:rPr>
              <a:t>상호명</a:t>
            </a:r>
            <a:r>
              <a:rPr lang="en-US" sz="5300" b="0" i="0" u="none" strike="noStrike">
                <a:solidFill>
                  <a:srgbClr val="000000"/>
                </a:solidFill>
                <a:latin typeface="esamanru OTF Medium"/>
              </a:rPr>
              <a:t>: </a:t>
            </a:r>
            <a:r>
              <a:rPr lang="ko-KR" sz="5300" b="0" i="0" u="none" strike="noStrike">
                <a:solidFill>
                  <a:srgbClr val="000000"/>
                </a:solidFill>
                <a:ea typeface="esamanru OTF Medium"/>
              </a:rPr>
              <a:t>우스레공방</a:t>
            </a:r>
            <a:endParaRPr lang="ko-KR" sz="5300" b="0" i="0" u="none" strike="noStrike">
              <a:solidFill>
                <a:srgbClr val="000000"/>
              </a:solidFill>
              <a:ea typeface="esamanru OTF Medium"/>
            </a:endParaRPr>
          </a:p>
          <a:p>
            <a:pPr lvl="0" algn="ctr">
              <a:lnSpc>
                <a:spcPct val="116199"/>
              </a:lnSpc>
              <a:defRPr/>
            </a:pPr>
            <a:endParaRPr lang="en-US" sz="5300" b="0" i="0" u="none" strike="noStrike">
              <a:solidFill>
                <a:srgbClr val="000000"/>
              </a:solidFill>
              <a:latin typeface="esamanru OTF Medium"/>
              <a:ea typeface="esamanru OTF Medium"/>
            </a:endParaRPr>
          </a:p>
          <a:p>
            <a:pPr lvl="0" algn="ctr">
              <a:lnSpc>
                <a:spcPct val="116199"/>
              </a:lnSpc>
              <a:defRPr/>
            </a:pPr>
            <a:r>
              <a:rPr lang="ko-KR" sz="5300" b="0" i="0" u="none" strike="noStrike">
                <a:solidFill>
                  <a:srgbClr val="000000"/>
                </a:solidFill>
                <a:ea typeface="esamanru OTF Medium"/>
              </a:rPr>
              <a:t>위치</a:t>
            </a:r>
            <a:r>
              <a:rPr lang="en-US" sz="5300" b="0" i="0" u="none" strike="noStrike">
                <a:solidFill>
                  <a:srgbClr val="000000"/>
                </a:solidFill>
                <a:latin typeface="esamanru OTF Medium"/>
              </a:rPr>
              <a:t>: </a:t>
            </a:r>
            <a:r>
              <a:rPr lang="ko-KR" sz="5300" b="0" i="0" u="none" strike="noStrike">
                <a:solidFill>
                  <a:srgbClr val="000000"/>
                </a:solidFill>
                <a:ea typeface="esamanru OTF Medium"/>
              </a:rPr>
              <a:t>의정부시</a:t>
            </a:r>
            <a:r>
              <a:rPr lang="en-US" sz="5300" b="0" i="0" u="none" strike="noStrike">
                <a:solidFill>
                  <a:srgbClr val="000000"/>
                </a:solidFill>
                <a:latin typeface="esamanru OTF Medium"/>
              </a:rPr>
              <a:t> </a:t>
            </a:r>
            <a:r>
              <a:rPr lang="ko-KR" sz="5300" b="0" i="0" u="none" strike="noStrike">
                <a:solidFill>
                  <a:srgbClr val="000000"/>
                </a:solidFill>
                <a:ea typeface="esamanru OTF Medium"/>
              </a:rPr>
              <a:t>동일로</a:t>
            </a:r>
            <a:r>
              <a:rPr lang="en-US" sz="5300" b="0" i="0" u="none" strike="noStrike">
                <a:solidFill>
                  <a:srgbClr val="000000"/>
                </a:solidFill>
                <a:latin typeface="esamanru OTF Medium"/>
              </a:rPr>
              <a:t> 513</a:t>
            </a:r>
            <a:r>
              <a:rPr lang="ko-KR" sz="5300" b="0" i="0" u="none" strike="noStrike">
                <a:solidFill>
                  <a:srgbClr val="000000"/>
                </a:solidFill>
                <a:ea typeface="esamanru OTF Medium"/>
              </a:rPr>
              <a:t>번길</a:t>
            </a:r>
            <a:r>
              <a:rPr lang="en-US" sz="5300" b="0" i="0" u="none" strike="noStrike">
                <a:solidFill>
                  <a:srgbClr val="000000"/>
                </a:solidFill>
                <a:latin typeface="esamanru OTF Medium"/>
              </a:rPr>
              <a:t> 7</a:t>
            </a:r>
            <a:endParaRPr lang="en-US" sz="5300" b="0" i="0" u="none" strike="noStrike">
              <a:solidFill>
                <a:srgbClr val="000000"/>
              </a:solidFill>
              <a:latin typeface="esamanru OTF Medium"/>
            </a:endParaRPr>
          </a:p>
          <a:p>
            <a:pPr lvl="0" algn="ctr">
              <a:lnSpc>
                <a:spcPct val="116199"/>
              </a:lnSpc>
              <a:defRPr/>
            </a:pPr>
            <a:endParaRPr lang="en-US" sz="5300" b="0" i="0" u="none" strike="noStrike">
              <a:solidFill>
                <a:srgbClr val="000000"/>
              </a:solidFill>
              <a:latin typeface="esamanru OTF Medium"/>
            </a:endParaRPr>
          </a:p>
          <a:p>
            <a:pPr lvl="0" algn="ctr">
              <a:lnSpc>
                <a:spcPct val="116199"/>
              </a:lnSpc>
              <a:defRPr/>
            </a:pPr>
            <a:r>
              <a:rPr lang="ko-KR" sz="5300" b="0" i="0" u="none" strike="noStrike">
                <a:solidFill>
                  <a:srgbClr val="000000"/>
                </a:solidFill>
                <a:ea typeface="esamanru OTF Medium"/>
              </a:rPr>
              <a:t>연락처</a:t>
            </a:r>
            <a:r>
              <a:rPr lang="en-US" sz="5300" b="0" i="0" u="none" strike="noStrike">
                <a:solidFill>
                  <a:srgbClr val="000000"/>
                </a:solidFill>
                <a:latin typeface="esamanru OTF Medium"/>
              </a:rPr>
              <a:t>: 010-5539-7868 / pcm9651@naver.com</a:t>
            </a:r>
            <a:endParaRPr lang="en-US" sz="5300" b="0" i="0" u="none" strike="noStrike">
              <a:solidFill>
                <a:srgbClr val="000000"/>
              </a:solidFill>
              <a:latin typeface="esamanru OTF Medium"/>
            </a:endParaRPr>
          </a:p>
          <a:p>
            <a:pPr lvl="0" algn="ctr">
              <a:lnSpc>
                <a:spcPct val="116199"/>
              </a:lnSpc>
              <a:defRPr/>
            </a:pPr>
            <a:endParaRPr lang="en-US" sz="5300" b="0" i="0" u="none" strike="noStrike">
              <a:solidFill>
                <a:srgbClr val="000000"/>
              </a:solidFill>
              <a:latin typeface="esamanru OTF Medium"/>
            </a:endParaRPr>
          </a:p>
          <a:p>
            <a:pPr lvl="0" algn="ctr">
              <a:lnSpc>
                <a:spcPct val="116199"/>
              </a:lnSpc>
              <a:defRPr/>
            </a:pPr>
            <a:r>
              <a:rPr lang="ko-KR" sz="5300" b="0" i="0" u="none" strike="noStrike">
                <a:solidFill>
                  <a:srgbClr val="000000"/>
                </a:solidFill>
                <a:ea typeface="esamanru OTF Medium"/>
              </a:rPr>
              <a:t>운영</a:t>
            </a:r>
            <a:r>
              <a:rPr lang="en-US" sz="5300" b="0" i="0" u="none" strike="noStrike">
                <a:solidFill>
                  <a:srgbClr val="000000"/>
                </a:solidFill>
                <a:latin typeface="esamanru OTF Medium"/>
              </a:rPr>
              <a:t> </a:t>
            </a:r>
            <a:r>
              <a:rPr lang="ko-KR" sz="5300" b="0" i="0" u="none" strike="noStrike">
                <a:solidFill>
                  <a:srgbClr val="000000"/>
                </a:solidFill>
                <a:ea typeface="esamanru OTF Medium"/>
              </a:rPr>
              <a:t>형태</a:t>
            </a:r>
            <a:r>
              <a:rPr lang="en-US" sz="5300" b="0" i="0" u="none" strike="noStrike">
                <a:solidFill>
                  <a:srgbClr val="000000"/>
                </a:solidFill>
                <a:latin typeface="esamanru OTF Medium"/>
              </a:rPr>
              <a:t>: </a:t>
            </a:r>
            <a:r>
              <a:rPr lang="ko-KR" sz="5300" b="0" i="0" u="none" strike="noStrike">
                <a:solidFill>
                  <a:srgbClr val="000000"/>
                </a:solidFill>
                <a:ea typeface="esamanru OTF Medium"/>
              </a:rPr>
              <a:t>목공</a:t>
            </a:r>
            <a:r>
              <a:rPr lang="en-US" sz="5300" b="0" i="0" u="none" strike="noStrike">
                <a:solidFill>
                  <a:srgbClr val="000000"/>
                </a:solidFill>
                <a:latin typeface="esamanru OTF Medium"/>
              </a:rPr>
              <a:t> </a:t>
            </a:r>
            <a:r>
              <a:rPr lang="ko-KR" sz="5300" b="0" i="0" u="none" strike="noStrike">
                <a:solidFill>
                  <a:srgbClr val="000000"/>
                </a:solidFill>
                <a:ea typeface="esamanru OTF Medium"/>
              </a:rPr>
              <a:t>체험</a:t>
            </a:r>
            <a:r>
              <a:rPr lang="en-US" sz="5300" b="0" i="0" u="none" strike="noStrike">
                <a:solidFill>
                  <a:srgbClr val="000000"/>
                </a:solidFill>
                <a:latin typeface="esamanru OTF Medium"/>
              </a:rPr>
              <a:t> </a:t>
            </a:r>
            <a:r>
              <a:rPr lang="ko-KR" sz="5300" b="0" i="0" u="none" strike="noStrike">
                <a:solidFill>
                  <a:srgbClr val="000000"/>
                </a:solidFill>
                <a:ea typeface="esamanru OTF Medium"/>
              </a:rPr>
              <a:t>및</a:t>
            </a:r>
            <a:r>
              <a:rPr lang="en-US" sz="5300" b="0" i="0" u="none" strike="noStrike">
                <a:solidFill>
                  <a:srgbClr val="000000"/>
                </a:solidFill>
                <a:latin typeface="esamanru OTF Medium"/>
              </a:rPr>
              <a:t> </a:t>
            </a:r>
            <a:r>
              <a:rPr lang="ko-KR" sz="5300" b="0" i="0" u="none" strike="noStrike">
                <a:solidFill>
                  <a:srgbClr val="000000"/>
                </a:solidFill>
                <a:ea typeface="esamanru OTF Medium"/>
              </a:rPr>
              <a:t>교육</a:t>
            </a:r>
            <a:r>
              <a:rPr lang="en-US" sz="5300" b="0" i="0" u="none" strike="noStrike">
                <a:solidFill>
                  <a:srgbClr val="000000"/>
                </a:solidFill>
                <a:latin typeface="esamanru OTF Medium"/>
              </a:rPr>
              <a:t> </a:t>
            </a:r>
            <a:r>
              <a:rPr lang="ko-KR" sz="5300" b="0" i="0" u="none" strike="noStrike">
                <a:solidFill>
                  <a:srgbClr val="000000"/>
                </a:solidFill>
                <a:ea typeface="esamanru OTF Medium"/>
              </a:rPr>
              <a:t>전문</a:t>
            </a:r>
            <a:r>
              <a:rPr lang="en-US" sz="5300" b="0" i="0" u="none" strike="noStrike">
                <a:solidFill>
                  <a:srgbClr val="000000"/>
                </a:solidFill>
                <a:latin typeface="esamanru OTF Medium"/>
              </a:rPr>
              <a:t> </a:t>
            </a:r>
            <a:r>
              <a:rPr lang="ko-KR" sz="5300" b="0" i="0" u="none" strike="noStrike">
                <a:solidFill>
                  <a:srgbClr val="000000"/>
                </a:solidFill>
                <a:ea typeface="esamanru OTF Medium"/>
              </a:rPr>
              <a:t>공방</a:t>
            </a:r>
            <a:endParaRPr lang="ko-KR" sz="5300" b="0" i="0" u="none" strike="noStrike">
              <a:solidFill>
                <a:srgbClr val="000000"/>
              </a:solidFill>
              <a:ea typeface="esamanru OTF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952500" y="1003300"/>
            <a:ext cx="88900" cy="4826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1181100" y="990600"/>
            <a:ext cx="162179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07899"/>
              </a:lnSpc>
            </a:pP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주요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활동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 rot="0">
            <a:off x="1308100" y="3098800"/>
            <a:ext cx="2451100" cy="12446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1371600" y="3276600"/>
            <a:ext cx="2324100" cy="863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국내산</a:t>
            </a:r>
            <a:r>
              <a:rPr lang="en-US" sz="24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원목</a:t>
            </a:r>
            <a:r>
              <a:rPr lang="en-US" sz="24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활용</a:t>
            </a:r>
            <a:r>
              <a:rPr lang="en-US" sz="24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목공</a:t>
            </a:r>
            <a:r>
              <a:rPr lang="en-US" sz="24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체험</a:t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-5400000">
            <a:off x="4165600" y="3238500"/>
            <a:ext cx="152400" cy="9525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9">
            <a:alphaModFix amt="7000"/>
          </a:blip>
          <a:stretch>
            <a:fillRect/>
          </a:stretch>
        </p:blipFill>
        <p:spPr>
          <a:xfrm rot="0">
            <a:off x="4635500" y="2679700"/>
            <a:ext cx="12560300" cy="2057400"/>
          </a:xfrm>
          <a:prstGeom prst="rect">
            <a:avLst/>
          </a:prstGeom>
        </p:spPr>
      </p:pic>
      <p:sp>
        <p:nvSpPr>
          <p:cNvPr name="TextBox 12" id="12"/>
          <p:cNvSpPr txBox="true"/>
          <p:nvPr/>
        </p:nvSpPr>
        <p:spPr>
          <a:xfrm rot="0">
            <a:off x="5118100" y="3492500"/>
            <a:ext cx="113919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41100"/>
              </a:lnSpc>
            </a:pP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탄소저장량을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표시한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도마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,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소품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제작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등</a:t>
            </a:r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0">
            <a:off x="1308100" y="5956300"/>
            <a:ext cx="2451100" cy="12446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384300" y="6134100"/>
            <a:ext cx="2324100" cy="8636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ctr">
              <a:lnSpc>
                <a:spcPct val="116199"/>
              </a:lnSpc>
              <a:defRPr/>
            </a:pPr>
            <a:r>
              <a:rPr lang="en-US" sz="2400" b="0" i="0" u="none" strike="noStrike">
                <a:solidFill>
                  <a:srgbClr val="000000"/>
                </a:solidFill>
                <a:latin typeface="esamanru OTF Bold"/>
              </a:rPr>
              <a:t>ESG·</a:t>
            </a:r>
            <a:r>
              <a:rPr lang="ko-KR" sz="2400" b="0" i="0" u="none" strike="noStrike">
                <a:solidFill>
                  <a:srgbClr val="000000"/>
                </a:solidFill>
                <a:ea typeface="esamanru OTF Bold"/>
              </a:rPr>
              <a:t>탄소중립</a:t>
            </a:r>
            <a:r>
              <a:rPr lang="en-US" sz="2400" b="0" i="0" u="none" strike="noStrike">
                <a:solidFill>
                  <a:srgbClr val="000000"/>
                </a:solidFill>
                <a:latin typeface="esamanru OTF Bold"/>
              </a:rPr>
              <a:t> </a:t>
            </a:r>
            <a:endParaRPr lang="ko-KR" sz="2400" b="0" i="0" u="none" strike="noStrike">
              <a:solidFill>
                <a:srgbClr val="000000"/>
              </a:solidFill>
              <a:ea typeface="esamanru OTF Bold"/>
            </a:endParaRPr>
          </a:p>
          <a:p>
            <a:pPr lvl="0" algn="ctr">
              <a:lnSpc>
                <a:spcPct val="116199"/>
              </a:lnSpc>
              <a:defRPr/>
            </a:pPr>
            <a:r>
              <a:rPr lang="ko-KR" sz="2400" b="0" i="0" u="none" strike="noStrike">
                <a:solidFill>
                  <a:srgbClr val="000000"/>
                </a:solidFill>
                <a:ea typeface="esamanru OTF Bold"/>
              </a:rPr>
              <a:t>교육</a:t>
            </a:r>
            <a:r>
              <a:rPr lang="en-US" sz="2400" b="0" i="0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400" b="0" i="0" u="none" strike="noStrike">
                <a:solidFill>
                  <a:srgbClr val="000000"/>
                </a:solidFill>
                <a:ea typeface="esamanru OTF Bold"/>
              </a:rPr>
              <a:t>연계</a:t>
            </a:r>
            <a:endParaRPr lang="ko-KR" sz="2400" b="0" i="0" u="none" strike="noStrike">
              <a:solidFill>
                <a:srgbClr val="000000"/>
              </a:solidFill>
              <a:ea typeface="esamanru OTF Bold"/>
            </a:endParaRPr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-5400000">
            <a:off x="4165600" y="6096000"/>
            <a:ext cx="152400" cy="952500"/>
          </a:xfrm>
          <a:prstGeom prst="rect">
            <a:avLst/>
          </a:prstGeom>
        </p:spPr>
      </p:pic>
      <p:pic>
        <p:nvPicPr>
          <p:cNvPr name="Picture 16" id="16"/>
          <p:cNvPicPr>
            <a:picLocks noChangeAspect="true"/>
          </p:cNvPicPr>
          <p:nvPr/>
        </p:nvPicPr>
        <p:blipFill>
          <a:blip r:embed="rId12">
            <a:alphaModFix amt="7000"/>
          </a:blip>
          <a:stretch>
            <a:fillRect/>
          </a:stretch>
        </p:blipFill>
        <p:spPr>
          <a:xfrm rot="0">
            <a:off x="4648200" y="5549900"/>
            <a:ext cx="12560300" cy="2057400"/>
          </a:xfrm>
          <a:prstGeom prst="rect">
            <a:avLst/>
          </a:prstGeom>
        </p:spPr>
      </p:pic>
      <p:sp>
        <p:nvSpPr>
          <p:cNvPr name="TextBox 17" id="17"/>
          <p:cNvSpPr txBox="true"/>
          <p:nvPr/>
        </p:nvSpPr>
        <p:spPr>
          <a:xfrm rot="0">
            <a:off x="5270500" y="6350000"/>
            <a:ext cx="113919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41100"/>
              </a:lnSpc>
            </a:pP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학교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,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기관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,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기업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대상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목공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수업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및</a:t>
            </a:r>
            <a:r>
              <a:rPr lang="en-US" sz="28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esamanru OTF Bold"/>
              </a:rPr>
              <a:t>워크숍</a:t>
            </a:r>
          </a:p>
        </p:txBody>
      </p:sp>
    </p:spTree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952500" y="1003300"/>
            <a:ext cx="88900" cy="4826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1181100" y="990600"/>
            <a:ext cx="162179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07899"/>
              </a:lnSpc>
            </a:pP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주요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활동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 rot="0">
            <a:off x="1308100" y="3098800"/>
            <a:ext cx="2451100" cy="12446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1371600" y="3492500"/>
            <a:ext cx="2324100" cy="431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강사</a:t>
            </a:r>
            <a:r>
              <a:rPr lang="en-US" sz="24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양성</a:t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-5400000">
            <a:off x="4165600" y="3238500"/>
            <a:ext cx="152400" cy="9525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9">
            <a:alphaModFix amt="7000"/>
          </a:blip>
          <a:stretch>
            <a:fillRect/>
          </a:stretch>
        </p:blipFill>
        <p:spPr>
          <a:xfrm rot="0">
            <a:off x="4635500" y="2679700"/>
            <a:ext cx="12560300" cy="20574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5143500" y="3492500"/>
            <a:ext cx="11391900" cy="4953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141100"/>
              </a:lnSpc>
              <a:defRPr/>
            </a:pPr>
            <a:r>
              <a:rPr lang="ko-KR" sz="2800" b="0" i="0" u="none" strike="noStrike">
                <a:solidFill>
                  <a:srgbClr val="000000"/>
                </a:solidFill>
                <a:ea typeface="esamanru OTF Bold"/>
              </a:rPr>
              <a:t>목공예</a:t>
            </a:r>
            <a:r>
              <a:rPr lang="en-US" sz="2800" b="0" i="0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esamanru OTF Bold"/>
              </a:rPr>
              <a:t>전문</a:t>
            </a:r>
            <a:r>
              <a:rPr lang="en-US" sz="2800" b="0" i="0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esamanru OTF Bold"/>
              </a:rPr>
              <a:t>강사</a:t>
            </a:r>
            <a:r>
              <a:rPr lang="en-US" sz="2800" b="0" i="0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esamanru OTF Bold"/>
              </a:rPr>
              <a:t>및</a:t>
            </a:r>
            <a:r>
              <a:rPr lang="en-US" sz="2800" b="0" i="0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esamanru OTF Bold"/>
              </a:rPr>
              <a:t>레진</a:t>
            </a:r>
            <a:r>
              <a:rPr lang="en-US" sz="2800" b="0" i="0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esamanru OTF Bold"/>
              </a:rPr>
              <a:t>목공예</a:t>
            </a:r>
            <a:r>
              <a:rPr lang="en-US" sz="2800" b="0" i="0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esamanru OTF Bold"/>
              </a:rPr>
              <a:t>지도사</a:t>
            </a:r>
            <a:r>
              <a:rPr lang="en-US" sz="2800" b="0" i="0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altLang="en-US" sz="2800" b="0" i="0" u="none" strike="noStrike">
                <a:solidFill>
                  <a:srgbClr val="000000"/>
                </a:solidFill>
                <a:ea typeface="esamanru OTF Bold"/>
              </a:rPr>
              <a:t>및 </a:t>
            </a:r>
            <a:r>
              <a:rPr lang="en-US" altLang="ko-KR" sz="2800" b="0" i="0" u="none" strike="noStrike">
                <a:solidFill>
                  <a:srgbClr val="000000"/>
                </a:solidFill>
                <a:ea typeface="esamanru OTF Bold"/>
              </a:rPr>
              <a:t>ESG </a:t>
            </a:r>
            <a:r>
              <a:rPr lang="ko-KR" altLang="en-US" sz="2800" b="0" i="0" u="none" strike="noStrike">
                <a:solidFill>
                  <a:srgbClr val="000000"/>
                </a:solidFill>
                <a:ea typeface="esamanru OTF Bold"/>
              </a:rPr>
              <a:t>전문 강사 배출</a:t>
            </a:r>
            <a:endParaRPr lang="ko-KR" altLang="en-US" sz="2800" b="0" i="0" u="none" strike="noStrike">
              <a:solidFill>
                <a:srgbClr val="000000"/>
              </a:solidFill>
              <a:ea typeface="esamanru OTF Bold"/>
            </a:endParaRPr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0">
            <a:off x="1308100" y="5956300"/>
            <a:ext cx="2451100" cy="1244600"/>
          </a:xfrm>
          <a:prstGeom prst="rect">
            <a:avLst/>
          </a:prstGeom>
        </p:spPr>
      </p:pic>
      <p:sp>
        <p:nvSpPr>
          <p:cNvPr name="TextBox 14" id="14"/>
          <p:cNvSpPr txBox="true"/>
          <p:nvPr/>
        </p:nvSpPr>
        <p:spPr>
          <a:xfrm rot="0">
            <a:off x="1384300" y="6134100"/>
            <a:ext cx="2324100" cy="863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학교</a:t>
            </a:r>
            <a:r>
              <a:rPr lang="en-US" sz="24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및</a:t>
            </a:r>
            <a:r>
              <a:rPr lang="en-US" sz="24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기관</a:t>
            </a:r>
            <a:r>
              <a:rPr lang="en-US" sz="2400" b="false" i="false" u="none" strike="noStrike">
                <a:solidFill>
                  <a:srgbClr val="000000"/>
                </a:solidFill>
                <a:latin typeface="esamanru OTF Bold"/>
              </a:rPr>
              <a:t> </a:t>
            </a:r>
          </a:p>
          <a:p>
            <a:pPr algn="ctr" lvl="0">
              <a:lnSpc>
                <a:spcPct val="116199"/>
              </a:lnSpc>
            </a:pPr>
            <a:r>
              <a:rPr lang="ko-KR" sz="2400" b="false" i="false" u="none" strike="noStrike">
                <a:solidFill>
                  <a:srgbClr val="000000"/>
                </a:solidFill>
                <a:ea typeface="esamanru OTF Bold"/>
              </a:rPr>
              <a:t>프로그램</a:t>
            </a:r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-5400000">
            <a:off x="4165600" y="6096000"/>
            <a:ext cx="152400" cy="952500"/>
          </a:xfrm>
          <a:prstGeom prst="rect">
            <a:avLst/>
          </a:prstGeom>
        </p:spPr>
      </p:pic>
      <p:pic>
        <p:nvPicPr>
          <p:cNvPr name="Picture 16" id="16"/>
          <p:cNvPicPr>
            <a:picLocks noChangeAspect="true"/>
          </p:cNvPicPr>
          <p:nvPr/>
        </p:nvPicPr>
        <p:blipFill>
          <a:blip r:embed="rId12">
            <a:alphaModFix amt="7000"/>
          </a:blip>
          <a:stretch>
            <a:fillRect/>
          </a:stretch>
        </p:blipFill>
        <p:spPr>
          <a:xfrm rot="0">
            <a:off x="4648200" y="5549900"/>
            <a:ext cx="12560300" cy="20574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5143499" y="5956300"/>
            <a:ext cx="11391900" cy="4953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141100"/>
              </a:lnSpc>
              <a:defRPr/>
            </a:pPr>
            <a:r>
              <a:rPr lang="ko-KR" altLang="en-US" sz="2800" b="0" i="0" u="none" strike="noStrike">
                <a:solidFill>
                  <a:srgbClr val="000000"/>
                </a:solidFill>
                <a:ea typeface="esamanru OTF Bold"/>
              </a:rPr>
              <a:t> 의정부시 </a:t>
            </a:r>
            <a:r>
              <a:rPr lang="ko-KR" sz="2800" b="0" i="0" u="none" strike="noStrike">
                <a:solidFill>
                  <a:srgbClr val="000000"/>
                </a:solidFill>
                <a:ea typeface="esamanru OTF Bold"/>
              </a:rPr>
              <a:t>평생학습원</a:t>
            </a:r>
            <a:r>
              <a:rPr lang="en-US" sz="2800" b="0" i="0" u="none" strike="noStrike">
                <a:solidFill>
                  <a:srgbClr val="000000"/>
                </a:solidFill>
                <a:latin typeface="esamanru OTF Bold"/>
              </a:rPr>
              <a:t>, </a:t>
            </a:r>
            <a:r>
              <a:rPr lang="ko-KR" altLang="en-US" sz="2800" b="0" i="0" u="none" strike="noStrike">
                <a:solidFill>
                  <a:srgbClr val="000000"/>
                </a:solidFill>
                <a:ea typeface="esamanru OTF Bold"/>
              </a:rPr>
              <a:t>의정부시 청</a:t>
            </a:r>
            <a:r>
              <a:rPr lang="ko-KR" sz="2800" b="0" i="0" u="none" strike="noStrike">
                <a:solidFill>
                  <a:srgbClr val="000000"/>
                </a:solidFill>
                <a:ea typeface="esamanru OTF Bold"/>
              </a:rPr>
              <a:t>소년수련관</a:t>
            </a:r>
            <a:r>
              <a:rPr lang="en-US" sz="2800" b="0" i="0" u="none" strike="noStrike">
                <a:solidFill>
                  <a:srgbClr val="000000"/>
                </a:solidFill>
                <a:latin typeface="esamanru OTF Bold"/>
              </a:rPr>
              <a:t>, </a:t>
            </a:r>
            <a:r>
              <a:rPr lang="ko-KR" altLang="en-US" sz="2800" b="0" i="0" u="none" strike="noStrike">
                <a:solidFill>
                  <a:srgbClr val="000000"/>
                </a:solidFill>
                <a:ea typeface="esamanru OTF Bold"/>
              </a:rPr>
              <a:t>교육부 꿈길 체험공방</a:t>
            </a:r>
            <a:endParaRPr lang="en-US" sz="2800" b="0" i="0" u="none" strike="noStrike">
              <a:solidFill>
                <a:srgbClr val="000000"/>
              </a:solidFill>
              <a:latin typeface="esamanru OTF Bold"/>
            </a:endParaRPr>
          </a:p>
          <a:p>
            <a:pPr lvl="0" algn="l">
              <a:lnSpc>
                <a:spcPct val="141100"/>
              </a:lnSpc>
              <a:defRPr/>
            </a:pPr>
            <a:r>
              <a:rPr lang="ko-KR" sz="2800" b="0" i="0" u="none" strike="noStrike">
                <a:solidFill>
                  <a:srgbClr val="000000"/>
                </a:solidFill>
                <a:ea typeface="esamanru OTF Bold"/>
              </a:rPr>
              <a:t>치매안심센터</a:t>
            </a:r>
            <a:r>
              <a:rPr lang="en-US" sz="2800" b="0" i="0" u="none" strike="noStrike">
                <a:solidFill>
                  <a:srgbClr val="000000"/>
                </a:solidFill>
                <a:latin typeface="esamanru OTF Bold"/>
              </a:rPr>
              <a:t>,</a:t>
            </a:r>
            <a:r>
              <a:rPr lang="ko-KR" altLang="en-US" sz="2800" b="0" i="0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altLang="en-US" sz="2800" b="0" i="0" u="none" strike="noStrike">
                <a:solidFill>
                  <a:srgbClr val="000000"/>
                </a:solidFill>
                <a:ea typeface="esamanru OTF Bold"/>
              </a:rPr>
              <a:t>서울시 학교밖 청소년 지원공방</a:t>
            </a:r>
            <a:r>
              <a:rPr lang="en-US" sz="2800" b="0" i="0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esamanru OTF Bold"/>
              </a:rPr>
              <a:t>등록</a:t>
            </a:r>
            <a:r>
              <a:rPr lang="en-US" sz="2800" b="0" i="0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esamanru OTF Bold"/>
              </a:rPr>
              <a:t>및</a:t>
            </a:r>
            <a:r>
              <a:rPr lang="en-US" sz="2800" b="0" i="0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esamanru OTF Bold"/>
              </a:rPr>
              <a:t>활동</a:t>
            </a:r>
            <a:endParaRPr lang="ko-KR" sz="2800" b="0" i="0" u="none" strike="noStrike">
              <a:solidFill>
                <a:srgbClr val="000000"/>
              </a:solidFill>
              <a:ea typeface="esamanru OTF Bold"/>
            </a:endParaR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952500" y="1003300"/>
            <a:ext cx="88900" cy="4826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1181100" y="990600"/>
            <a:ext cx="162179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교육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철학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및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가치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042400" y="5524500"/>
            <a:ext cx="8077200" cy="1612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41100"/>
              </a:lnSpc>
            </a:pP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국산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원목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사용을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통한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 </a:t>
            </a:r>
          </a:p>
          <a:p>
            <a:pPr algn="l" lvl="0">
              <a:lnSpc>
                <a:spcPct val="141100"/>
              </a:lnSpc>
            </a:pP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탄소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저장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효과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강조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042400" y="3517900"/>
            <a:ext cx="8166100" cy="1244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7000" b="false" i="false" u="none" strike="noStrike">
                <a:solidFill>
                  <a:srgbClr val="000000"/>
                </a:solidFill>
                <a:ea typeface="esamanru OTF Bold"/>
              </a:rPr>
              <a:t>탄소중립</a:t>
            </a:r>
            <a:r>
              <a:rPr lang="en-US" sz="70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000000"/>
                </a:solidFill>
                <a:ea typeface="esamanru OTF Bold"/>
              </a:rPr>
              <a:t>실천</a:t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282700" y="1981200"/>
            <a:ext cx="7048500" cy="7048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952500" y="1003300"/>
            <a:ext cx="88900" cy="4826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1181100" y="990600"/>
            <a:ext cx="162179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교육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철학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및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가치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042400" y="5524500"/>
            <a:ext cx="8077200" cy="16129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41100"/>
              </a:lnSpc>
            </a:pP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목공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체험을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통한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 </a:t>
            </a:r>
          </a:p>
          <a:p>
            <a:pPr algn="l" lvl="0">
              <a:lnSpc>
                <a:spcPct val="141100"/>
              </a:lnSpc>
            </a:pP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실습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중심</a:t>
            </a:r>
            <a:r>
              <a:rPr lang="en-US" sz="41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false" i="false" u="none" strike="noStrike">
                <a:solidFill>
                  <a:srgbClr val="000000"/>
                </a:solidFill>
                <a:ea typeface="esamanru OTF Bold"/>
              </a:rPr>
              <a:t>학습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042400" y="3517900"/>
            <a:ext cx="8166100" cy="1244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7000" b="false" i="false" u="none" strike="noStrike">
                <a:solidFill>
                  <a:srgbClr val="000000"/>
                </a:solidFill>
                <a:ea typeface="esamanru OTF Bold"/>
              </a:rPr>
              <a:t>창의력</a:t>
            </a:r>
            <a:r>
              <a:rPr lang="en-US" sz="7000" b="false" i="false" u="none" strike="noStrike">
                <a:solidFill>
                  <a:srgbClr val="000000"/>
                </a:solidFill>
                <a:latin typeface="esamanru OTF Bold"/>
              </a:rPr>
              <a:t>·</a:t>
            </a:r>
            <a:r>
              <a:rPr lang="ko-KR" sz="7000" b="false" i="false" u="none" strike="noStrike">
                <a:solidFill>
                  <a:srgbClr val="000000"/>
                </a:solidFill>
                <a:ea typeface="esamanru OTF Bold"/>
              </a:rPr>
              <a:t>손기술</a:t>
            </a:r>
            <a:r>
              <a:rPr lang="en-US" sz="70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000000"/>
                </a:solidFill>
                <a:ea typeface="esamanru OTF Bold"/>
              </a:rPr>
              <a:t>발달</a:t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282700" y="1981200"/>
            <a:ext cx="7048500" cy="7048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952500" y="1003300"/>
            <a:ext cx="88900" cy="4826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1181100" y="990600"/>
            <a:ext cx="162179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교육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철학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및</a:t>
            </a:r>
            <a:r>
              <a:rPr lang="en-US" sz="3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3000" b="false" i="false" u="none" strike="noStrike">
                <a:solidFill>
                  <a:srgbClr val="715130"/>
                </a:solidFill>
                <a:ea typeface="esamanru OTF Bold"/>
              </a:rPr>
              <a:t>가치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042400" y="5524500"/>
            <a:ext cx="8077200" cy="16129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141100"/>
              </a:lnSpc>
              <a:defRPr/>
            </a:pPr>
            <a:r>
              <a:rPr lang="ko-KR" sz="4100" b="0" i="0" u="none" strike="noStrike">
                <a:solidFill>
                  <a:srgbClr val="000000"/>
                </a:solidFill>
                <a:ea typeface="esamanru OTF Bold"/>
              </a:rPr>
              <a:t>지역사회</a:t>
            </a:r>
            <a:r>
              <a:rPr lang="en-US" sz="4100" b="0" i="0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0" i="0" u="none" strike="noStrike">
                <a:solidFill>
                  <a:srgbClr val="000000"/>
                </a:solidFill>
                <a:ea typeface="esamanru OTF Bold"/>
              </a:rPr>
              <a:t>연계</a:t>
            </a:r>
            <a:r>
              <a:rPr lang="en-US" sz="4100" b="0" i="0" u="none" strike="noStrike">
                <a:solidFill>
                  <a:srgbClr val="000000"/>
                </a:solidFill>
                <a:latin typeface="esamanru OTF Bold"/>
              </a:rPr>
              <a:t>, </a:t>
            </a:r>
            <a:r>
              <a:rPr lang="ko-KR" sz="4100" b="0" i="0" u="none" strike="noStrike">
                <a:solidFill>
                  <a:srgbClr val="000000"/>
                </a:solidFill>
                <a:ea typeface="esamanru OTF Bold"/>
              </a:rPr>
              <a:t>강사</a:t>
            </a:r>
            <a:r>
              <a:rPr lang="en-US" sz="4100" b="0" i="0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0" i="0" u="none" strike="noStrike">
                <a:solidFill>
                  <a:srgbClr val="000000"/>
                </a:solidFill>
                <a:ea typeface="esamanru OTF Bold"/>
              </a:rPr>
              <a:t>양성을</a:t>
            </a:r>
            <a:r>
              <a:rPr lang="en-US" sz="4100" b="0" i="0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0" i="0" u="none" strike="noStrike">
                <a:solidFill>
                  <a:srgbClr val="000000"/>
                </a:solidFill>
                <a:ea typeface="esamanru OTF Bold"/>
              </a:rPr>
              <a:t>통한</a:t>
            </a:r>
            <a:endParaRPr lang="ko-KR" sz="4100" b="0" i="0" u="none" strike="noStrike">
              <a:solidFill>
                <a:srgbClr val="000000"/>
              </a:solidFill>
              <a:ea typeface="esamanru OTF Bold"/>
            </a:endParaRPr>
          </a:p>
          <a:p>
            <a:pPr lvl="0" algn="l">
              <a:lnSpc>
                <a:spcPct val="141100"/>
              </a:lnSpc>
              <a:defRPr/>
            </a:pPr>
            <a:r>
              <a:rPr lang="ko-KR" altLang="en-US" sz="4100" b="0" i="0" u="none" strike="noStrike">
                <a:solidFill>
                  <a:srgbClr val="000000"/>
                </a:solidFill>
                <a:ea typeface="esamanru OTF Bold"/>
              </a:rPr>
              <a:t>지속가능한</a:t>
            </a:r>
            <a:r>
              <a:rPr lang="ko-KR" altLang="en-US" sz="4100" b="0" i="0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0" i="0" u="none" strike="noStrike">
                <a:solidFill>
                  <a:srgbClr val="000000"/>
                </a:solidFill>
                <a:ea typeface="esamanru OTF Bold"/>
              </a:rPr>
              <a:t>일자리</a:t>
            </a:r>
            <a:r>
              <a:rPr lang="en-US" sz="4100" b="0" i="0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0" i="0" u="none" strike="noStrike">
                <a:solidFill>
                  <a:srgbClr val="000000"/>
                </a:solidFill>
                <a:ea typeface="esamanru OTF Bold"/>
              </a:rPr>
              <a:t>및</a:t>
            </a:r>
            <a:r>
              <a:rPr lang="en-US" sz="4100" b="0" i="0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0" i="0" u="none" strike="noStrike">
                <a:solidFill>
                  <a:srgbClr val="000000"/>
                </a:solidFill>
                <a:ea typeface="esamanru OTF Bold"/>
              </a:rPr>
              <a:t>교육</a:t>
            </a:r>
            <a:r>
              <a:rPr lang="en-US" sz="4100" b="0" i="0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4100" b="0" i="0" u="none" strike="noStrike">
                <a:solidFill>
                  <a:srgbClr val="000000"/>
                </a:solidFill>
                <a:ea typeface="esamanru OTF Bold"/>
              </a:rPr>
              <a:t>확대</a:t>
            </a:r>
            <a:endParaRPr lang="ko-KR" sz="4100" b="0" i="0" u="none" strike="noStrike">
              <a:solidFill>
                <a:srgbClr val="000000"/>
              </a:solidFill>
              <a:ea typeface="esamanru OTF Bold"/>
            </a:endParaRPr>
          </a:p>
        </p:txBody>
      </p:sp>
      <p:sp>
        <p:nvSpPr>
          <p:cNvPr name="TextBox 9" id="9"/>
          <p:cNvSpPr txBox="true"/>
          <p:nvPr/>
        </p:nvSpPr>
        <p:spPr>
          <a:xfrm rot="0">
            <a:off x="9042400" y="3517900"/>
            <a:ext cx="8166100" cy="1244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7000" b="false" i="false" u="none" strike="noStrike">
                <a:solidFill>
                  <a:srgbClr val="000000"/>
                </a:solidFill>
                <a:ea typeface="esamanru OTF Bold"/>
              </a:rPr>
              <a:t>사회적</a:t>
            </a:r>
            <a:r>
              <a:rPr lang="en-US" sz="70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000000"/>
                </a:solidFill>
                <a:ea typeface="esamanru OTF Bold"/>
              </a:rPr>
              <a:t>가치</a:t>
            </a:r>
            <a:r>
              <a:rPr lang="en-US" sz="7000" b="false" i="false" u="none" strike="noStrike">
                <a:solidFill>
                  <a:srgbClr val="00000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000000"/>
                </a:solidFill>
                <a:ea typeface="esamanru OTF Bold"/>
              </a:rPr>
              <a:t>실현</a:t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282700" y="1981200"/>
            <a:ext cx="7048500" cy="7048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2343149" y="3759200"/>
            <a:ext cx="13601700" cy="36703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28649"/>
              </a:lnSpc>
              <a:defRPr/>
            </a:pP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프로그램명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탄소저장량이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표시된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국내산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원목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도마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만들기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 </a:t>
            </a:r>
            <a:endParaRPr lang="en-US" sz="3800" b="0" i="0" u="none" strike="noStrike">
              <a:solidFill>
                <a:srgbClr val="715130"/>
              </a:solidFill>
              <a:latin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체험운영주체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우스레공방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(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의정부시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동일로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513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번길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7)</a:t>
            </a:r>
            <a:endParaRPr lang="en-US" sz="3800" b="0" i="0" u="none" strike="noStrike">
              <a:solidFill>
                <a:srgbClr val="715130"/>
              </a:solidFill>
              <a:latin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대상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학교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,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기관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,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기업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, </a:t>
            </a:r>
            <a:endParaRPr lang="en-US" sz="3800" b="0" i="0" u="none" strike="noStrike">
              <a:solidFill>
                <a:srgbClr val="715130"/>
              </a:solidFill>
              <a:latin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시민단체운영형태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학교수업형</a:t>
            </a:r>
            <a:r>
              <a:rPr lang="ko-KR" altLang="en-US" sz="3800" b="0" i="0" u="none" strike="noStrike">
                <a:solidFill>
                  <a:srgbClr val="715130"/>
                </a:solidFill>
                <a:ea typeface="Pretendard Bold"/>
              </a:rPr>
              <a:t> </a:t>
            </a:r>
            <a:r>
              <a:rPr lang="en-US" altLang="ko-KR" sz="3800" b="0" i="0" u="none" strike="noStrike">
                <a:solidFill>
                  <a:srgbClr val="715130"/>
                </a:solidFill>
                <a:ea typeface="Pretendard Bold"/>
              </a:rPr>
              <a:t>/</a:t>
            </a:r>
            <a:r>
              <a:rPr lang="ko-KR" altLang="en-US" sz="3800" b="0" i="0" u="none" strike="noStrike">
                <a:solidFill>
                  <a:srgbClr val="715130"/>
                </a:solidFill>
                <a:ea typeface="Pretendard Bold"/>
              </a:rPr>
              <a:t> 공방형 </a:t>
            </a:r>
            <a:r>
              <a:rPr lang="en-US" altLang="ko-KR" sz="3800" b="0" i="0" u="none" strike="noStrike">
                <a:solidFill>
                  <a:srgbClr val="715130"/>
                </a:solidFill>
                <a:ea typeface="Pretendard Bold"/>
              </a:rPr>
              <a:t>/</a:t>
            </a:r>
            <a:r>
              <a:rPr lang="ko-KR" altLang="en-US" sz="3800" b="0" i="0" u="none" strike="noStrike">
                <a:solidFill>
                  <a:srgbClr val="715130"/>
                </a:solidFill>
                <a:ea typeface="Pretendard Bold"/>
              </a:rPr>
              <a:t> 출장형</a:t>
            </a:r>
            <a:endParaRPr lang="ko-KR" altLang="en-US" sz="38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“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국내산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원목으로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실천해보는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탄소중립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,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내가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만드는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ESG”</a:t>
            </a:r>
            <a:endParaRPr lang="en-US" sz="3800" b="0" i="0" u="none" strike="noStrike">
              <a:solidFill>
                <a:srgbClr val="715130"/>
              </a:solidFill>
              <a:latin typeface="Pretendard Bold"/>
            </a:endParaRPr>
          </a:p>
        </p:txBody>
      </p:sp>
      <p:sp>
        <p:nvSpPr>
          <p:cNvPr name="TextBox 10" id="10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프로그램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개요</a:t>
            </a:r>
          </a:p>
        </p:txBody>
      </p:sp>
    </p:spTree>
  </p:cSld>
  <p:clrMapOvr>
    <a:masterClrMapping/>
  </p:clrMapOvr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1435100" y="4508500"/>
            <a:ext cx="2755900" cy="27559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13119100" y="4368800"/>
            <a:ext cx="3352800" cy="2959100"/>
          </a:xfrm>
          <a:prstGeom prst="rect">
            <a:avLst/>
          </a:prstGeom>
        </p:spPr>
      </p:pic>
      <p:sp>
        <p:nvSpPr>
          <p:cNvPr name="TextBox 11" id="11"/>
          <p:cNvSpPr txBox="true"/>
          <p:nvPr/>
        </p:nvSpPr>
        <p:spPr>
          <a:xfrm rot="0">
            <a:off x="4635500" y="4635500"/>
            <a:ext cx="8343900" cy="2171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8650"/>
              </a:lnSpc>
            </a:pP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-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기후위기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대응과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탄소중립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실현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필요성</a:t>
            </a:r>
          </a:p>
          <a:p>
            <a:pPr algn="l" lvl="0">
              <a:lnSpc>
                <a:spcPct val="128650"/>
              </a:lnSpc>
            </a:pP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- ESG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가치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확산과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생활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속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실천의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부족</a:t>
            </a:r>
          </a:p>
          <a:p>
            <a:pPr algn="l" lvl="0">
              <a:lnSpc>
                <a:spcPct val="128650"/>
              </a:lnSpc>
            </a:pP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-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국산목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활용의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환경적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·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사회적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의미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추진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배경</a:t>
            </a:r>
          </a:p>
        </p:txBody>
      </p:sp>
    </p:spTree>
  </p:cSld>
  <p:clrMapOvr>
    <a:masterClrMapping/>
  </p:clrMapOvr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2781300" y="4229100"/>
            <a:ext cx="12814300" cy="29337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28649"/>
              </a:lnSpc>
              <a:defRPr/>
            </a:pP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-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국내산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원목을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통해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탄소중립의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의미와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실천방법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체험</a:t>
            </a:r>
            <a:endParaRPr lang="ko-KR" sz="38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- ESG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가치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(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환경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·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사회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·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지배구조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)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를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통합한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 </a:t>
            </a:r>
            <a:endParaRPr lang="ko-KR" sz="38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시민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참여형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프로그램</a:t>
            </a:r>
            <a:endParaRPr lang="ko-KR" sz="38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-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의정부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시민의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탄소저감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실천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문화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확산</a:t>
            </a:r>
            <a:endParaRPr lang="ko-KR" sz="38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-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지역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자원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순환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및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임업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활성화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기여</a:t>
            </a:r>
            <a:endParaRPr lang="ko-KR" sz="3800" b="0" i="0" u="none" strike="noStrike">
              <a:solidFill>
                <a:srgbClr val="715130"/>
              </a:solidFill>
              <a:ea typeface="Pretendard Bold"/>
            </a:endParaRPr>
          </a:p>
        </p:txBody>
      </p:sp>
      <p:sp>
        <p:nvSpPr>
          <p:cNvPr name="TextBox 10" id="10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교육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목적</a:t>
            </a:r>
          </a:p>
        </p:txBody>
      </p:sp>
    </p:spTree>
  </p:cSld>
  <p:clrMapOvr>
    <a:masterClrMapping/>
  </p:clrMapOvr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3327400" y="4559300"/>
            <a:ext cx="12814300" cy="2171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8650"/>
              </a:lnSpc>
            </a:pP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1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차시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탄소중립과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ESG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이해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(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이론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중심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)</a:t>
            </a:r>
          </a:p>
          <a:p>
            <a:pPr algn="l" lvl="0">
              <a:lnSpc>
                <a:spcPct val="128650"/>
              </a:lnSpc>
            </a:pP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2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차시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국내산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원목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도마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제작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체험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(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실습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중심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)</a:t>
            </a:r>
          </a:p>
          <a:p>
            <a:pPr algn="l" lvl="0">
              <a:lnSpc>
                <a:spcPct val="128650"/>
              </a:lnSpc>
            </a:pP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3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차시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탄소중립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실천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서약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및</a:t>
            </a:r>
            <a:r>
              <a:rPr lang="en-US" sz="3800" b="false" i="false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715130"/>
                </a:solidFill>
                <a:ea typeface="Pretendard Bold"/>
              </a:rPr>
              <a:t>공유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교육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구성</a:t>
            </a:r>
          </a:p>
        </p:txBody>
      </p:sp>
    </p:spTree>
  </p:cSld>
  <p:clrMapOvr>
    <a:masterClrMapping/>
  </p:clrMapOvr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6718300" y="3657600"/>
            <a:ext cx="5549900" cy="7874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28649"/>
              </a:lnSpc>
              <a:defRPr/>
            </a:pPr>
            <a:r>
              <a:rPr lang="ko-KR" sz="4400" b="0" i="0" u="none" strike="noStrike">
                <a:solidFill>
                  <a:srgbClr val="3a4ca8"/>
                </a:solidFill>
                <a:ea typeface="Pretendard Bold"/>
              </a:rPr>
              <a:t>탄소중립</a:t>
            </a:r>
            <a:r>
              <a:rPr lang="en-US" sz="4400" b="0" i="0" u="none" strike="noStrike">
                <a:solidFill>
                  <a:srgbClr val="3a4ca8"/>
                </a:solidFill>
                <a:latin typeface="Pretendard Bold"/>
              </a:rPr>
              <a:t> </a:t>
            </a:r>
            <a:r>
              <a:rPr lang="ko-KR" sz="4400" b="0" i="0" u="none" strike="noStrike">
                <a:solidFill>
                  <a:srgbClr val="3a4ca8"/>
                </a:solidFill>
                <a:ea typeface="Pretendard Bold"/>
              </a:rPr>
              <a:t>실천</a:t>
            </a:r>
            <a:r>
              <a:rPr lang="en-US" sz="4400" b="0" i="0" u="none" strike="noStrike">
                <a:solidFill>
                  <a:srgbClr val="3a4ca8"/>
                </a:solidFill>
                <a:latin typeface="Pretendard Bold"/>
              </a:rPr>
              <a:t> </a:t>
            </a:r>
            <a:r>
              <a:rPr lang="ko-KR" sz="4400" b="0" i="0" u="none" strike="noStrike">
                <a:solidFill>
                  <a:srgbClr val="3a4ca8"/>
                </a:solidFill>
                <a:ea typeface="Pretendard Bold"/>
              </a:rPr>
              <a:t>서약서</a:t>
            </a:r>
            <a:endParaRPr lang="ko-KR" sz="4400" b="0" i="0" u="none" strike="noStrike">
              <a:solidFill>
                <a:srgbClr val="3a4ca8"/>
              </a:solidFill>
              <a:ea typeface="Pretendard Bold"/>
            </a:endParaRPr>
          </a:p>
        </p:txBody>
      </p:sp>
      <p:sp>
        <p:nvSpPr>
          <p:cNvPr name="TextBox 10" id="10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서약서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822700" y="5194300"/>
            <a:ext cx="10744200" cy="2171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본인은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기후위기의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심각성을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인식하고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,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지구환경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보호와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지속가능한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미래를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위하여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일상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속에서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탄소중립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실천에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적극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동참할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것을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다짐하며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 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다음과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같이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서약합니다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3822700" y="2159000"/>
            <a:ext cx="10744200" cy="1422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하나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,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일회용품과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플라스틱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사용을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줄이고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재사용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가능한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물품을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사용하겠습니다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. 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822700" y="4191000"/>
            <a:ext cx="10744200" cy="1422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하나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,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전기와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물을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아껴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쓰고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에너지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효율을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높이는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 </a:t>
            </a:r>
          </a:p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생활을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 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하겠습니다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822700" y="6210300"/>
            <a:ext cx="10744200" cy="1422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하나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,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대중교통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이용과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걷기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,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자전거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타기를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 </a:t>
            </a:r>
          </a:p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생활화하겠습니다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3822700" y="2159000"/>
            <a:ext cx="10744200" cy="1422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하나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,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음식물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쓰레기를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줄이고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,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친환경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식생활을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 </a:t>
            </a:r>
          </a:p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실천하겠습니다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822700" y="4572000"/>
            <a:ext cx="10744200" cy="685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하나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,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국산목제품과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친환경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제품을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우선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소비하겠습니다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822700" y="6210300"/>
            <a:ext cx="10744200" cy="1422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하나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,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나무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심기와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탄소흡수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활동에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자발적으로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 </a:t>
            </a:r>
          </a:p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참여하겠습니다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927100" y="806450"/>
            <a:ext cx="16675100" cy="86741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3822700" y="2159000"/>
            <a:ext cx="10744200" cy="1422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하나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,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탄소중립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실천의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중요성을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주변에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알리고</a:t>
            </a:r>
          </a:p>
          <a:p>
            <a:pPr algn="l" lvl="0">
              <a:lnSpc>
                <a:spcPct val="128650"/>
              </a:lnSpc>
            </a:pP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함께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실천하도록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false" i="false" u="none" strike="noStrike">
                <a:solidFill>
                  <a:srgbClr val="000000"/>
                </a:solidFill>
                <a:ea typeface="Pretendard Bold"/>
              </a:rPr>
              <a:t>노력하겠습니다</a:t>
            </a:r>
            <a:r>
              <a:rPr lang="en-US" sz="3800" b="false" i="false" u="none" strike="noStrike">
                <a:solidFill>
                  <a:srgbClr val="000000"/>
                </a:solidFill>
                <a:latin typeface="Pretendard Bold"/>
              </a:rPr>
              <a:t>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822700" y="4191000"/>
            <a:ext cx="12484100" cy="14224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28649"/>
              </a:lnSpc>
              <a:defRPr/>
            </a:pP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본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서약을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성실히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이행하여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건강한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지구와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미래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세대를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 </a:t>
            </a:r>
            <a:endParaRPr lang="en-US" sz="3800" b="0" i="0" u="none" strike="noStrike">
              <a:solidFill>
                <a:srgbClr val="000000"/>
              </a:solidFill>
              <a:latin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위한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탄소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중립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사회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실현에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앞장설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것을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다짐합니다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.</a:t>
            </a:r>
            <a:endParaRPr lang="en-US" sz="3800" b="0" i="0" u="none" strike="noStrike">
              <a:solidFill>
                <a:srgbClr val="000000"/>
              </a:solidFill>
              <a:latin typeface="Pretendard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3848100" y="6540500"/>
            <a:ext cx="11239500" cy="14224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28649"/>
              </a:lnSpc>
              <a:defRPr/>
            </a:pP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2025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년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 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월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 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일</a:t>
            </a:r>
            <a:endParaRPr lang="ko-KR" sz="3800" b="0" i="0" u="none" strike="noStrike">
              <a:solidFill>
                <a:srgbClr val="00000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서약자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성명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: ___________(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서명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또는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날인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)   </a:t>
            </a:r>
            <a:endParaRPr lang="ko-KR" sz="3800" b="0" i="0" u="none" strike="noStrike">
              <a:solidFill>
                <a:srgbClr val="00000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800" b="0" i="0" u="none" strike="noStrike">
                <a:solidFill>
                  <a:srgbClr val="000000"/>
                </a:solidFill>
                <a:ea typeface="Pretendard Bold"/>
              </a:rPr>
              <a:t>전화번호</a:t>
            </a:r>
            <a:r>
              <a:rPr lang="en-US" sz="3800" b="0" i="0" u="none" strike="noStrike">
                <a:solidFill>
                  <a:srgbClr val="000000"/>
                </a:solidFill>
                <a:latin typeface="Pretendard Bold"/>
              </a:rPr>
              <a:t> </a:t>
            </a:r>
            <a:endParaRPr lang="en-US" sz="3800" b="0" i="0" u="none" strike="noStrike">
              <a:solidFill>
                <a:srgbClr val="000000"/>
              </a:solidFill>
              <a:latin typeface="Pretendard Bold"/>
            </a:endParaRPr>
          </a:p>
        </p:txBody>
      </p:sp>
    </p:spTree>
  </p:cSld>
  <p:clrMapOvr>
    <a:masterClrMapping/>
  </p:clrMapOvr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2603500" y="4191000"/>
            <a:ext cx="14249400" cy="29337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28649"/>
              </a:lnSpc>
              <a:defRPr/>
            </a:pP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출장형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(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기관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·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기업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):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최대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50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명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/ 2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시간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/ 1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인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70,000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원</a:t>
            </a:r>
            <a:endParaRPr lang="ko-KR" sz="38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공방형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(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시민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):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최대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10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명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/ 2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시간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/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동일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조건</a:t>
            </a:r>
            <a:endParaRPr lang="ko-KR" sz="38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학교형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: 30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명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내외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/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재료비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20,000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원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/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강사비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100,000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원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(</a:t>
            </a:r>
            <a:r>
              <a:rPr lang="en-US" altLang="ko-KR" sz="3800" b="0" i="0" u="none" strike="noStrike">
                <a:solidFill>
                  <a:srgbClr val="715130"/>
                </a:solidFill>
                <a:latin typeface="Pretendard Bold"/>
              </a:rPr>
              <a:t>1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명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기준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)</a:t>
            </a:r>
            <a:endParaRPr lang="en-US" sz="3800" b="0" i="0" u="none" strike="noStrike">
              <a:solidFill>
                <a:srgbClr val="715130"/>
              </a:solidFill>
              <a:latin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※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평생학습원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·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청소년수련관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등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시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산하기관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연계</a:t>
            </a:r>
            <a:r>
              <a:rPr lang="en-US" sz="38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800" b="0" i="0" u="none" strike="noStrike">
                <a:solidFill>
                  <a:srgbClr val="715130"/>
                </a:solidFill>
                <a:ea typeface="Pretendard Bold"/>
              </a:rPr>
              <a:t>가능</a:t>
            </a:r>
            <a:endParaRPr lang="ko-KR" sz="3800" b="0" i="0" u="none" strike="noStrike">
              <a:solidFill>
                <a:srgbClr val="715130"/>
              </a:solidFill>
              <a:ea typeface="Pretendard Bold"/>
            </a:endParaRPr>
          </a:p>
        </p:txBody>
      </p:sp>
      <p:sp>
        <p:nvSpPr>
          <p:cNvPr name="TextBox 10" id="10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운영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방식</a:t>
            </a:r>
          </a:p>
        </p:txBody>
      </p:sp>
    </p:spTree>
  </p:cSld>
  <p:clrMapOvr>
    <a:masterClrMapping/>
  </p:clrMapOvr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2895600" y="4127500"/>
            <a:ext cx="12966700" cy="29972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28649"/>
              </a:lnSpc>
              <a:defRPr/>
            </a:pP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E(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환경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):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국산목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사용으로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수입목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운송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탄소배출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저감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, </a:t>
            </a:r>
            <a:endParaRPr lang="en-US" sz="3900" b="0" i="0" u="none" strike="noStrike">
              <a:solidFill>
                <a:srgbClr val="715130"/>
              </a:solidFill>
              <a:latin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도마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1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= 1.2kg CO₂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저장</a:t>
            </a:r>
            <a:endParaRPr lang="ko-KR" sz="39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S(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사회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):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강사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양성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및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지역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일자리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창출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,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지역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임업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활성화</a:t>
            </a:r>
            <a:endParaRPr lang="ko-KR" sz="39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G(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지배구조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):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기관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ESG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보고서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,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캠페인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자료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활용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가능</a:t>
            </a:r>
            <a:endParaRPr lang="ko-KR" sz="3900" b="0" i="0" u="none" strike="noStrike">
              <a:solidFill>
                <a:srgbClr val="715130"/>
              </a:solidFill>
              <a:ea typeface="Pretendard Bold"/>
            </a:endParaRPr>
          </a:p>
        </p:txBody>
      </p:sp>
      <p:sp>
        <p:nvSpPr>
          <p:cNvPr name="TextBox 10" id="10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ESG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및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탄소중립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기여</a:t>
            </a:r>
          </a:p>
        </p:txBody>
      </p:sp>
    </p:spTree>
  </p:cSld>
  <p:clrMapOvr>
    <a:masterClrMapping/>
  </p:clrMapOvr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6134100" y="3162300"/>
            <a:ext cx="6172200" cy="5791200"/>
          </a:xfrm>
          <a:prstGeom prst="rect">
            <a:avLst/>
          </a:prstGeom>
        </p:spPr>
      </p:pic>
      <p:sp>
        <p:nvSpPr>
          <p:cNvPr name="TextBox 10" id="10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ESG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및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탄소중립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기여</a:t>
            </a:r>
          </a:p>
        </p:txBody>
      </p:sp>
    </p:spTree>
  </p:cSld>
  <p:clrMapOvr>
    <a:masterClrMapping/>
  </p:clrMapOvr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2127250" y="3771900"/>
            <a:ext cx="14033500" cy="37592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28649"/>
              </a:lnSpc>
              <a:defRPr/>
            </a:pP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참가자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탄소저장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체험으로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실천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의지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 </a:t>
            </a:r>
            <a:endParaRPr lang="en-US" sz="3900" b="0" i="0" u="none" strike="noStrike">
              <a:solidFill>
                <a:srgbClr val="715130"/>
              </a:solidFill>
              <a:latin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강화기관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/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기업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: ESG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평가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지표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개선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,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사회공헌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홍보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효과</a:t>
            </a:r>
            <a:endParaRPr lang="ko-KR" sz="39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지역사회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국산목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순환경제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및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시민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환경의식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향상</a:t>
            </a:r>
            <a:endParaRPr lang="ko-KR" sz="39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의정부시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탄소중립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실천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거점도시로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이미지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강화</a:t>
            </a:r>
            <a:endParaRPr lang="ko-KR" sz="39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대국민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홍보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: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지역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방송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,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신문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, SNS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를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통한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전국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확산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홍보</a:t>
            </a:r>
            <a:r>
              <a:rPr lang="en-US" sz="3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3900" b="0" i="0" u="none" strike="noStrike">
                <a:solidFill>
                  <a:srgbClr val="715130"/>
                </a:solidFill>
                <a:ea typeface="Pretendard Bold"/>
              </a:rPr>
              <a:t>추진</a:t>
            </a:r>
            <a:endParaRPr lang="ko-KR" sz="3900" b="0" i="0" u="none" strike="noStrike">
              <a:solidFill>
                <a:srgbClr val="715130"/>
              </a:solidFill>
              <a:ea typeface="Pretendard Bold"/>
            </a:endParaRPr>
          </a:p>
        </p:txBody>
      </p:sp>
      <p:sp>
        <p:nvSpPr>
          <p:cNvPr name="TextBox 10" id="10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기대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효과</a:t>
            </a:r>
          </a:p>
        </p:txBody>
      </p:sp>
    </p:spTree>
  </p:cSld>
  <p:clrMapOvr>
    <a:masterClrMapping/>
  </p:clrMapOvr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879600" y="4013200"/>
            <a:ext cx="14528800" cy="29591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28649"/>
              </a:lnSpc>
              <a:defRPr/>
            </a:pP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SNS 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챌린지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 (#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내가만든도마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 #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의정부탄소중립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)</a:t>
            </a:r>
            <a:endParaRPr lang="en-US" sz="5400" b="0" i="0" u="none" strike="noStrike">
              <a:solidFill>
                <a:srgbClr val="715130"/>
              </a:solidFill>
              <a:latin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지역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언론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및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 ESG 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보고서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연계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홍보</a:t>
            </a:r>
            <a:endParaRPr lang="ko-KR" sz="54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“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시민이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만드는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탄소저장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5400" b="0" i="0" u="none" strike="noStrike">
                <a:solidFill>
                  <a:srgbClr val="715130"/>
                </a:solidFill>
                <a:ea typeface="Pretendard Bold"/>
              </a:rPr>
              <a:t>문화</a:t>
            </a:r>
            <a:r>
              <a:rPr lang="en-US" sz="5400" b="0" i="0" u="none" strike="noStrike">
                <a:solidFill>
                  <a:srgbClr val="715130"/>
                </a:solidFill>
                <a:latin typeface="Pretendard Bold"/>
              </a:rPr>
              <a:t>!”</a:t>
            </a:r>
            <a:endParaRPr lang="en-US" sz="5400" b="0" i="0" u="none" strike="noStrike">
              <a:solidFill>
                <a:srgbClr val="715130"/>
              </a:solidFill>
              <a:latin typeface="Pretendard Bold"/>
            </a:endParaRPr>
          </a:p>
        </p:txBody>
      </p:sp>
      <p:sp>
        <p:nvSpPr>
          <p:cNvPr name="TextBox 10" id="10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홍보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및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시민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캠페인</a:t>
            </a:r>
          </a:p>
        </p:txBody>
      </p:sp>
    </p:spTree>
  </p:cSld>
  <p:clrMapOvr>
    <a:masterClrMapping/>
  </p:clrMapOvr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435100" y="2717800"/>
            <a:ext cx="15430500" cy="127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2768600" y="4470400"/>
            <a:ext cx="12750800" cy="28067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128649"/>
              </a:lnSpc>
              <a:defRPr/>
            </a:pP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-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의정부에서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전국으로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확산되는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시민참여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모델</a:t>
            </a:r>
            <a:endParaRPr lang="ko-KR" sz="49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-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지속가능한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환경교육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+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사회적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일자리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창출</a:t>
            </a:r>
            <a:endParaRPr lang="ko-KR" sz="49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-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지역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중심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탄소중립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체험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플랫폼</a:t>
            </a:r>
            <a:r>
              <a:rPr lang="en-US" sz="4900" b="0" i="0" u="none" strike="noStrike">
                <a:solidFill>
                  <a:srgbClr val="715130"/>
                </a:solidFill>
                <a:latin typeface="Pretendard Bold"/>
              </a:rPr>
              <a:t> </a:t>
            </a:r>
            <a:r>
              <a:rPr lang="ko-KR" sz="4900" b="0" i="0" u="none" strike="noStrike">
                <a:solidFill>
                  <a:srgbClr val="715130"/>
                </a:solidFill>
                <a:ea typeface="Pretendard Bold"/>
              </a:rPr>
              <a:t>구축</a:t>
            </a:r>
            <a:endParaRPr lang="ko-KR" sz="4900" b="0" i="0" u="none" strike="noStrike">
              <a:solidFill>
                <a:srgbClr val="715130"/>
              </a:solidFill>
              <a:ea typeface="Pretendard Bold"/>
            </a:endParaRPr>
          </a:p>
          <a:p>
            <a:pPr lvl="0" algn="l">
              <a:lnSpc>
                <a:spcPct val="128649"/>
              </a:lnSpc>
              <a:defRPr/>
            </a:pPr>
            <a:endParaRPr lang="ko-KR" sz="4900" b="0" i="0" u="none" strike="noStrike">
              <a:solidFill>
                <a:srgbClr val="715130"/>
              </a:solidFill>
              <a:ea typeface="Pretendard Bold"/>
            </a:endParaRPr>
          </a:p>
        </p:txBody>
      </p:sp>
      <p:sp>
        <p:nvSpPr>
          <p:cNvPr name="TextBox 10" id="10"/>
          <p:cNvSpPr txBox="true"/>
          <p:nvPr/>
        </p:nvSpPr>
        <p:spPr>
          <a:xfrm rot="0">
            <a:off x="3467100" y="1358900"/>
            <a:ext cx="11353800" cy="1244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우스레공방의</a:t>
            </a:r>
            <a:r>
              <a:rPr lang="en-US" sz="7000" b="false" i="false" u="none" strike="noStrike">
                <a:solidFill>
                  <a:srgbClr val="715130"/>
                </a:solidFill>
                <a:latin typeface="esamanru OTF Bold"/>
              </a:rPr>
              <a:t> </a:t>
            </a:r>
            <a:r>
              <a:rPr lang="ko-KR" sz="7000" b="false" i="false" u="none" strike="noStrike">
                <a:solidFill>
                  <a:srgbClr val="715130"/>
                </a:solidFill>
                <a:ea typeface="esamanru OTF Bold"/>
              </a:rPr>
              <a:t>비전</a:t>
            </a:r>
          </a:p>
        </p:txBody>
      </p:sp>
    </p:spTree>
  </p:cSld>
  <p:clrMapOvr>
    <a:masterClrMapping/>
  </p:clrMapOvr>
</p:sld>
</file>

<file path=ppt/slides/slide2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feb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1320000">
            <a:off x="11137900" y="457200"/>
            <a:ext cx="3975100" cy="381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-1320000">
            <a:off x="3187700" y="457200"/>
            <a:ext cx="3975100" cy="381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93345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131800" y="571500"/>
            <a:ext cx="152400" cy="152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03800" y="571500"/>
            <a:ext cx="152400" cy="152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812800"/>
            <a:ext cx="16675100" cy="86741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1625600" y="4267200"/>
            <a:ext cx="15100300" cy="16510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9300" b="false" i="false" u="none" strike="noStrike">
                <a:solidFill>
                  <a:srgbClr val="715130"/>
                </a:solidFill>
                <a:ea typeface="esamanru OTF Bold"/>
              </a:rPr>
              <a:t>감사합니다</a:t>
            </a:r>
            <a:r>
              <a:rPr lang="en-US" sz="9300" b="false" i="false" u="none" strike="noStrike">
                <a:solidFill>
                  <a:srgbClr val="715130"/>
                </a:solidFill>
                <a:latin typeface="esamanru OTF Bold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505</ep:Words>
  <ep:PresentationFormat>On-screen Show (4:3)</ep:PresentationFormat>
  <ep:Paragraphs>131</ep:Paragraphs>
  <ep:Slides>24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ep:HeadingPairs>
  <ep:TitlesOfParts>
    <vt:vector size="25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2006-08-16T00:00:00.000</dcterms:created>
  <cp:lastModifiedBy>user</cp:lastModifiedBy>
  <dcterms:modified xsi:type="dcterms:W3CDTF">2025-10-24T08:56:16.750</dcterms:modified>
  <cp:revision>19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