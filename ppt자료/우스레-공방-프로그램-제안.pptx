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presProps" Target="presProps.xml"  /><Relationship Id="rId27" Type="http://schemas.openxmlformats.org/officeDocument/2006/relationships/viewProps" Target="viewProps.xml"  /><Relationship Id="rId28" Type="http://schemas.openxmlformats.org/officeDocument/2006/relationships/theme" Target="theme/theme1.xml"  /><Relationship Id="rId29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.png"  /><Relationship Id="rId11" Type="http://schemas.openxmlformats.org/officeDocument/2006/relationships/image" Target="../media/image11.png"  /><Relationship Id="rId12" Type="http://schemas.openxmlformats.org/officeDocument/2006/relationships/image" Target="../media/image12.png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.png"  /><Relationship Id="rId11" Type="http://schemas.openxmlformats.org/officeDocument/2006/relationships/image" Target="../media/image11.png"  /><Relationship Id="rId12" Type="http://schemas.openxmlformats.org/officeDocument/2006/relationships/image" Target="../media/image12.png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9.png"  /><Relationship Id="rId6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9.png"  /><Relationship Id="rId6" Type="http://schemas.openxmlformats.org/officeDocument/2006/relationships/image" Target="../media/image1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9.png"  /><Relationship Id="rId7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16.png"  /><Relationship Id="rId9" Type="http://schemas.openxmlformats.org/officeDocument/2006/relationships/image" Target="../media/image1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18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8166100"/>
            <a:ext cx="154305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83000" y="6616700"/>
            <a:ext cx="114300" cy="11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83000" y="3556000"/>
            <a:ext cx="1143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0700" y="6616700"/>
            <a:ext cx="114300" cy="114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0700" y="3556000"/>
            <a:ext cx="114300" cy="114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025900" y="2374900"/>
            <a:ext cx="10236200" cy="812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435100" y="8394700"/>
            <a:ext cx="154178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1800" b="false" i="false" u="none" strike="noStrike" spc="500">
                <a:solidFill>
                  <a:srgbClr val="B0966E"/>
                </a:solidFill>
                <a:ea typeface="Pretendard Regular"/>
              </a:rPr>
              <a:t>우스레</a:t>
            </a:r>
            <a:r>
              <a:rPr lang="en-US" sz="1800" b="false" i="false" u="none" strike="noStrike" spc="500">
                <a:solidFill>
                  <a:srgbClr val="B0966E"/>
                </a:solidFill>
                <a:latin typeface="Pretendard Regular"/>
              </a:rPr>
              <a:t> </a:t>
            </a:r>
            <a:r>
              <a:rPr lang="ko-KR" sz="1800" b="false" i="false" u="none" strike="noStrike" spc="500">
                <a:solidFill>
                  <a:srgbClr val="B0966E"/>
                </a:solidFill>
                <a:ea typeface="Pretendard Regular"/>
              </a:rPr>
              <a:t>공방</a:t>
            </a:r>
          </a:p>
        </p:txBody>
      </p:sp>
      <p:sp>
        <p:nvSpPr>
          <p:cNvPr name="TextBox 15" id="15"/>
          <p:cNvSpPr txBox="true"/>
          <p:nvPr/>
        </p:nvSpPr>
        <p:spPr>
          <a:xfrm rot="5400000">
            <a:off x="15227300" y="4991100"/>
            <a:ext cx="24130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600" b="false" i="false" u="none" strike="noStrike" spc="500">
                <a:solidFill>
                  <a:srgbClr val="715130"/>
                </a:solidFill>
                <a:ea typeface="Pretendard Medium"/>
              </a:rPr>
              <a:t>탄소중립과</a:t>
            </a:r>
            <a:r>
              <a:rPr lang="en-US" sz="1600" b="false" i="false" u="none" strike="noStrike" spc="500">
                <a:solidFill>
                  <a:srgbClr val="715130"/>
                </a:solidFill>
                <a:latin typeface="Pretendard Medium"/>
              </a:rPr>
              <a:t> ESG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533400" y="4991100"/>
            <a:ext cx="26416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600" b="false" i="false" u="none" strike="noStrike" spc="500">
                <a:solidFill>
                  <a:srgbClr val="715130"/>
                </a:solidFill>
                <a:ea typeface="Pretendard Medium"/>
              </a:rPr>
              <a:t>국내산</a:t>
            </a:r>
            <a:r>
              <a:rPr lang="en-US" sz="1600" b="false" i="false" u="none" strike="noStrike" spc="500">
                <a:solidFill>
                  <a:srgbClr val="715130"/>
                </a:solidFill>
                <a:latin typeface="Pretendard Medium"/>
              </a:rPr>
              <a:t> </a:t>
            </a:r>
            <a:r>
              <a:rPr lang="ko-KR" sz="1600" b="false" i="false" u="none" strike="noStrike" spc="500">
                <a:solidFill>
                  <a:srgbClr val="715130"/>
                </a:solidFill>
                <a:ea typeface="Pretendard Medium"/>
              </a:rPr>
              <a:t>원목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68700" y="5194300"/>
            <a:ext cx="11137900" cy="1854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10400" b="false" i="false" u="none" strike="noStrike">
                <a:solidFill>
                  <a:srgbClr val="715130"/>
                </a:solidFill>
                <a:ea typeface="esamanru OTF Bold"/>
              </a:rPr>
              <a:t>교육</a:t>
            </a:r>
            <a:r>
              <a:rPr lang="en-US" sz="104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10400" b="false" i="false" u="none" strike="noStrike">
                <a:solidFill>
                  <a:srgbClr val="715130"/>
                </a:solidFill>
                <a:ea typeface="esamanru OTF Bold"/>
              </a:rPr>
              <a:t>프로그램</a:t>
            </a:r>
            <a:r>
              <a:rPr lang="en-US" sz="104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10400" b="false" i="false" u="none" strike="noStrike">
                <a:solidFill>
                  <a:srgbClr val="715130"/>
                </a:solidFill>
                <a:ea typeface="esamanru OTF Bold"/>
              </a:rPr>
              <a:t>제안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72100" y="3581400"/>
            <a:ext cx="75438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8000" b="false" i="false" u="none" strike="noStrike" spc="-100">
                <a:solidFill>
                  <a:srgbClr val="B0966E"/>
                </a:solidFill>
                <a:ea typeface="esamanru OTF Medium"/>
              </a:rPr>
              <a:t>탄소중립과</a:t>
            </a:r>
            <a:r>
              <a:rPr lang="en-US" sz="8000" b="false" i="false" u="none" strike="noStrike" spc="-100">
                <a:solidFill>
                  <a:srgbClr val="B0966E"/>
                </a:solidFill>
                <a:latin typeface="esamanru OTF Medium"/>
              </a:rPr>
              <a:t> ESG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87900" y="2527300"/>
            <a:ext cx="86995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2800" b="false" i="false" u="none" strike="noStrike" spc="100">
                <a:solidFill>
                  <a:srgbClr val="715130"/>
                </a:solidFill>
                <a:ea typeface="Pretendard Bold"/>
              </a:rPr>
              <a:t>우스레</a:t>
            </a:r>
            <a:r>
              <a:rPr lang="en-US" sz="2800" b="false" i="false" u="none" strike="noStrike" spc="100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2800" b="false" i="false" u="none" strike="noStrike" spc="100">
                <a:solidFill>
                  <a:srgbClr val="715130"/>
                </a:solidFill>
                <a:ea typeface="Pretendard Bold"/>
              </a:rPr>
              <a:t>공방의</a:t>
            </a:r>
            <a:r>
              <a:rPr lang="en-US" sz="2800" b="false" i="false" u="none" strike="noStrike" spc="100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2800" b="false" i="false" u="none" strike="noStrike" spc="100">
                <a:solidFill>
                  <a:srgbClr val="715130"/>
                </a:solidFill>
                <a:ea typeface="Pretendard Bold"/>
              </a:rPr>
              <a:t>국내산</a:t>
            </a:r>
            <a:r>
              <a:rPr lang="en-US" sz="2800" b="false" i="false" u="none" strike="noStrike" spc="100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2800" b="false" i="false" u="none" strike="noStrike" spc="100">
                <a:solidFill>
                  <a:srgbClr val="715130"/>
                </a:solidFill>
                <a:ea typeface="Pretendard Bold"/>
              </a:rPr>
              <a:t>원목을</a:t>
            </a:r>
            <a:r>
              <a:rPr lang="en-US" sz="2800" b="false" i="false" u="none" strike="noStrike" spc="100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2800" b="false" i="false" u="none" strike="noStrike" spc="100">
                <a:solidFill>
                  <a:srgbClr val="715130"/>
                </a:solidFill>
                <a:ea typeface="Pretendard Bold"/>
              </a:rPr>
              <a:t>활용한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2400" y="1955800"/>
            <a:ext cx="41402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5000" b="false" i="false" u="none" strike="noStrike">
                <a:solidFill>
                  <a:srgbClr val="000000"/>
                </a:solidFill>
                <a:ea typeface="Pretendard ExtraBold"/>
              </a:rPr>
              <a:t>목차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90800" y="61595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교육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구성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1300" y="61087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4000" y="61595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운영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방식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81800" y="61087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33400" y="61595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ESG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및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탄소중립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기여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3900" y="61087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90800" y="78994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기대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효과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1300" y="78486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74000" y="78994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홍보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및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시민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캠페인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81800" y="78486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33400" y="78994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우스레공방의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비전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53900" y="78486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90800" y="45212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프로그램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개요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1300" y="44704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74000" y="45212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추진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배경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1800" y="44704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33400" y="45212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교육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목적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53900" y="4470400"/>
            <a:ext cx="952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56400" y="2540000"/>
            <a:ext cx="1587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ExtraBold"/>
              </a:rPr>
              <a:t>00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74000" y="25908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우스레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공방</a:t>
            </a:r>
            <a:r>
              <a:rPr lang="en-US" sz="27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700" b="false" i="false" u="none" strike="noStrike">
                <a:solidFill>
                  <a:srgbClr val="715130"/>
                </a:solidFill>
                <a:ea typeface="Pretendard SemiBold"/>
              </a:rPr>
              <a:t>소개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1879600"/>
            <a:ext cx="154305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241800" y="3594100"/>
            <a:ext cx="9677400" cy="363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1000" b="false" i="false" u="none" strike="noStrike">
                <a:solidFill>
                  <a:srgbClr val="715130"/>
                </a:solidFill>
                <a:ea typeface="esamanru OTF Bold"/>
              </a:rPr>
              <a:t>우스레</a:t>
            </a:r>
            <a:r>
              <a:rPr lang="en-US" sz="11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11000" b="false" i="false" u="none" strike="noStrike">
                <a:solidFill>
                  <a:srgbClr val="715130"/>
                </a:solidFill>
                <a:ea typeface="esamanru OTF Bold"/>
              </a:rPr>
              <a:t>공방</a:t>
            </a:r>
          </a:p>
          <a:p>
            <a:pPr algn="ctr" lvl="0">
              <a:lnSpc>
                <a:spcPct val="99600"/>
              </a:lnSpc>
            </a:pPr>
            <a:r>
              <a:rPr lang="ko-KR" sz="11000" b="false" i="false" u="none" strike="noStrike">
                <a:solidFill>
                  <a:srgbClr val="715130"/>
                </a:solidFill>
                <a:ea typeface="esamanru OTF Bold"/>
              </a:rPr>
              <a:t>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0" y="1409700"/>
            <a:ext cx="68580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2000" b="false" i="false" u="none" strike="noStrike" spc="100">
                <a:solidFill>
                  <a:srgbClr val="B0966E"/>
                </a:solidFill>
                <a:latin typeface="Pretendard Medium"/>
              </a:rPr>
              <a:t> INSERTED PAGE SHOWING TITLE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1409700"/>
            <a:ext cx="68580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8729"/>
              </a:lnSpc>
            </a:pPr>
            <a:r>
              <a:rPr lang="en-US" sz="2000" b="false" i="false" u="none" strike="noStrike" spc="100">
                <a:solidFill>
                  <a:srgbClr val="B0966E"/>
                </a:solidFill>
                <a:latin typeface="Pretendard Medium"/>
              </a:rPr>
              <a:t>CONTENTS 00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기본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정보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06600" y="1778000"/>
            <a:ext cx="14262100" cy="7518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5300" b="0" i="0" u="none" strike="noStrike">
                <a:solidFill>
                  <a:srgbClr val="000000"/>
                </a:solidFill>
                <a:ea typeface="esamanru OTF Medium"/>
              </a:rPr>
              <a:t>상호명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: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우스레공방</a:t>
            </a:r>
            <a:endParaRPr lang="ko-KR" sz="5300" b="0" i="0" u="none" strike="noStrike">
              <a:solidFill>
                <a:srgbClr val="000000"/>
              </a:solidFill>
              <a:ea typeface="esamanru OTF Medium"/>
            </a:endParaRPr>
          </a:p>
          <a:p>
            <a:pPr lvl="0" algn="ctr">
              <a:lnSpc>
                <a:spcPct val="116199"/>
              </a:lnSpc>
              <a:defRPr/>
            </a:pPr>
            <a:endParaRPr lang="en-US" sz="5300" b="0" i="0" u="none" strike="noStrike">
              <a:solidFill>
                <a:srgbClr val="000000"/>
              </a:solidFill>
              <a:latin typeface="esamanru OTF Medium"/>
              <a:ea typeface="esamanru OTF Medium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위치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: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의정부시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동일로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513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번길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7</a:t>
            </a:r>
            <a:endParaRPr lang="en-US" sz="5300" b="0" i="0" u="none" strike="noStrike">
              <a:solidFill>
                <a:srgbClr val="000000"/>
              </a:solidFill>
              <a:latin typeface="esamanru OTF Medium"/>
            </a:endParaRPr>
          </a:p>
          <a:p>
            <a:pPr lvl="0" algn="ctr">
              <a:lnSpc>
                <a:spcPct val="116199"/>
              </a:lnSpc>
              <a:defRPr/>
            </a:pPr>
            <a:endParaRPr lang="en-US" sz="5300" b="0" i="0" u="none" strike="noStrike">
              <a:solidFill>
                <a:srgbClr val="000000"/>
              </a:solidFill>
              <a:latin typeface="esamanru OTF Medium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연락처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: 010-5539-7868 / pcm9651@naver.com</a:t>
            </a:r>
            <a:endParaRPr lang="en-US" sz="5300" b="0" i="0" u="none" strike="noStrike">
              <a:solidFill>
                <a:srgbClr val="000000"/>
              </a:solidFill>
              <a:latin typeface="esamanru OTF Medium"/>
            </a:endParaRPr>
          </a:p>
          <a:p>
            <a:pPr lvl="0" algn="ctr">
              <a:lnSpc>
                <a:spcPct val="116199"/>
              </a:lnSpc>
              <a:defRPr/>
            </a:pPr>
            <a:endParaRPr lang="en-US" sz="5300" b="0" i="0" u="none" strike="noStrike">
              <a:solidFill>
                <a:srgbClr val="000000"/>
              </a:solidFill>
              <a:latin typeface="esamanru OTF Medium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운영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형태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: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목공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체험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및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교육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전문</a:t>
            </a:r>
            <a:r>
              <a:rPr lang="en-US" sz="5300" b="0" i="0" u="none" strike="noStrike">
                <a:solidFill>
                  <a:srgbClr val="000000"/>
                </a:solidFill>
                <a:latin typeface="esamanru OTF Medium"/>
              </a:rPr>
              <a:t> </a:t>
            </a:r>
            <a:r>
              <a:rPr lang="ko-KR" sz="5300" b="0" i="0" u="none" strike="noStrike">
                <a:solidFill>
                  <a:srgbClr val="000000"/>
                </a:solidFill>
                <a:ea typeface="esamanru OTF Medium"/>
              </a:rPr>
              <a:t>공방</a:t>
            </a:r>
            <a:endParaRPr lang="ko-KR" sz="5300" b="0" i="0" u="none" strike="noStrike">
              <a:solidFill>
                <a:srgbClr val="000000"/>
              </a:solidFill>
              <a:ea typeface="esamanru OTF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주요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활동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1308100" y="3098800"/>
            <a:ext cx="2451100" cy="1244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71600" y="3276600"/>
            <a:ext cx="23241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국내산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원목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활용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목공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체험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4165600" y="3238500"/>
            <a:ext cx="152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7000"/>
          </a:blip>
          <a:stretch>
            <a:fillRect/>
          </a:stretch>
        </p:blipFill>
        <p:spPr>
          <a:xfrm rot="0">
            <a:off x="4635500" y="2679700"/>
            <a:ext cx="12560300" cy="2057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118100" y="3492500"/>
            <a:ext cx="11391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탄소저장량을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표시한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도마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,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소품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제작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등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0">
            <a:off x="1308100" y="5956300"/>
            <a:ext cx="2451100" cy="1244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84300" y="6134100"/>
            <a:ext cx="2324100" cy="863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esamanru OTF Bold"/>
              </a:rPr>
              <a:t>ESG·</a:t>
            </a:r>
            <a:r>
              <a:rPr lang="ko-KR" sz="2400" b="0" i="0" u="none" strike="noStrike">
                <a:solidFill>
                  <a:srgbClr val="000000"/>
                </a:solidFill>
                <a:ea typeface="esamanru OTF Bold"/>
              </a:rPr>
              <a:t>탄소중립</a:t>
            </a:r>
            <a:r>
              <a:rPr lang="en-US" sz="24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endParaRPr lang="ko-KR" sz="2400" b="0" i="0" u="none" strike="noStrike">
              <a:solidFill>
                <a:srgbClr val="000000"/>
              </a:solidFill>
              <a:ea typeface="esamanru OTF Bold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ko-KR" sz="2400" b="0" i="0" u="none" strike="noStrike">
                <a:solidFill>
                  <a:srgbClr val="000000"/>
                </a:solidFill>
                <a:ea typeface="esamanru OTF Bold"/>
              </a:rPr>
              <a:t>교육</a:t>
            </a:r>
            <a:r>
              <a:rPr lang="en-US" sz="24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esamanru OTF Bold"/>
              </a:rPr>
              <a:t>연계</a:t>
            </a:r>
            <a:endParaRPr lang="ko-KR" sz="2400" b="0" i="0" u="none" strike="noStrike">
              <a:solidFill>
                <a:srgbClr val="000000"/>
              </a:solidFill>
              <a:ea typeface="esamanru OTF Bold"/>
            </a:endParaRP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4165600" y="6096000"/>
            <a:ext cx="1524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 rot="0">
            <a:off x="4648200" y="5549900"/>
            <a:ext cx="12560300" cy="2057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270500" y="6350000"/>
            <a:ext cx="11391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학교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,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기관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,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기업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대상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목공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수업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esamanru OTF Bold"/>
              </a:rPr>
              <a:t>워크숍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주요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활동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1308100" y="3098800"/>
            <a:ext cx="2451100" cy="1244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71600" y="3492500"/>
            <a:ext cx="23241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강사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양성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4165600" y="3238500"/>
            <a:ext cx="152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7000"/>
          </a:blip>
          <a:stretch>
            <a:fillRect/>
          </a:stretch>
        </p:blipFill>
        <p:spPr>
          <a:xfrm rot="0">
            <a:off x="4635500" y="2679700"/>
            <a:ext cx="12560300" cy="2057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143500" y="3492500"/>
            <a:ext cx="11391900" cy="495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41100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목공예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전문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강사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및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레진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목공예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지도사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altLang="en-US" sz="2800" b="0" i="0" u="none" strike="noStrike">
                <a:solidFill>
                  <a:srgbClr val="000000"/>
                </a:solidFill>
                <a:ea typeface="esamanru OTF Bold"/>
              </a:rPr>
              <a:t>및 </a:t>
            </a:r>
            <a:r>
              <a:rPr lang="en-US" altLang="ko-KR" sz="2800" b="0" i="0" u="none" strike="noStrike">
                <a:solidFill>
                  <a:srgbClr val="000000"/>
                </a:solidFill>
                <a:ea typeface="esamanru OTF Bold"/>
              </a:rPr>
              <a:t>ESG </a:t>
            </a:r>
            <a:r>
              <a:rPr lang="ko-KR" altLang="en-US" sz="2800" b="0" i="0" u="none" strike="noStrike">
                <a:solidFill>
                  <a:srgbClr val="000000"/>
                </a:solidFill>
                <a:ea typeface="esamanru OTF Bold"/>
              </a:rPr>
              <a:t>전문 강사 배출</a:t>
            </a:r>
            <a:endParaRPr lang="ko-KR" altLang="en-US" sz="2800" b="0" i="0" u="none" strike="noStrike">
              <a:solidFill>
                <a:srgbClr val="000000"/>
              </a:solidFill>
              <a:ea typeface="esamanru OTF Bold"/>
            </a:endParaR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0">
            <a:off x="1308100" y="5956300"/>
            <a:ext cx="2451100" cy="1244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84300" y="6134100"/>
            <a:ext cx="23241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학교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기관</a:t>
            </a:r>
            <a:r>
              <a:rPr lang="en-US" sz="2400" b="false" i="false" u="none" strike="noStrike">
                <a:solidFill>
                  <a:srgbClr val="000000"/>
                </a:solidFill>
                <a:latin typeface="esamanru OTF Bold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esamanru OTF Bold"/>
              </a:rPr>
              <a:t>프로그램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4165600" y="6096000"/>
            <a:ext cx="1524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 rot="0">
            <a:off x="4648200" y="5549900"/>
            <a:ext cx="12560300" cy="2057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143499" y="5956300"/>
            <a:ext cx="11391900" cy="495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41100"/>
              </a:lnSpc>
              <a:defRPr/>
            </a:pPr>
            <a:r>
              <a:rPr lang="ko-KR" altLang="en-US" sz="2800" b="0" i="0" u="none" strike="noStrike">
                <a:solidFill>
                  <a:srgbClr val="000000"/>
                </a:solidFill>
                <a:ea typeface="esamanru OTF Bold"/>
              </a:rPr>
              <a:t>교육부 꿈길 체험공방</a:t>
            </a:r>
            <a:r>
              <a:rPr lang="en-US" altLang="ko-KR" sz="2800" b="0" i="0" u="none" strike="noStrike">
                <a:solidFill>
                  <a:srgbClr val="000000"/>
                </a:solidFill>
                <a:ea typeface="esamanru OTF Bold"/>
              </a:rPr>
              <a:t>,</a:t>
            </a:r>
            <a:r>
              <a:rPr lang="ko-KR" altLang="en-US" sz="2800" b="0" i="0" u="none" strike="noStrike">
                <a:solidFill>
                  <a:srgbClr val="000000"/>
                </a:solidFill>
                <a:ea typeface="esamanru OTF Bold"/>
              </a:rPr>
              <a:t> 의정부시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평생학습원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, </a:t>
            </a:r>
            <a:r>
              <a:rPr lang="ko-KR" altLang="en-US" sz="2800" b="0" i="0" u="none" strike="noStrike">
                <a:solidFill>
                  <a:srgbClr val="000000"/>
                </a:solidFill>
                <a:ea typeface="esamanru OTF Bold"/>
              </a:rPr>
              <a:t>의정부시 청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소년수련관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, </a:t>
            </a:r>
            <a:endParaRPr lang="ko-KR" sz="2800" b="0" i="0" u="none" strike="noStrike">
              <a:solidFill>
                <a:srgbClr val="000000"/>
              </a:solidFill>
              <a:ea typeface="esamanru OTF Bold"/>
            </a:endParaRPr>
          </a:p>
          <a:p>
            <a:pPr lvl="0" algn="l">
              <a:lnSpc>
                <a:spcPct val="141100"/>
              </a:lnSpc>
              <a:defRPr/>
            </a:pP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치매안심센터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,</a:t>
            </a:r>
            <a:r>
              <a:rPr lang="ko-KR" alt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altLang="en-US" sz="2800" b="0" i="0" u="none" strike="noStrike">
                <a:solidFill>
                  <a:srgbClr val="000000"/>
                </a:solidFill>
                <a:ea typeface="esamanru OTF Bold"/>
              </a:rPr>
              <a:t>서울시 학교밖 청소년 지원공방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등록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및</a:t>
            </a:r>
            <a:r>
              <a:rPr lang="en-US" sz="28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esamanru OTF Bold"/>
              </a:rPr>
              <a:t>활동</a:t>
            </a:r>
            <a:endParaRPr lang="ko-KR" sz="2800" b="0" i="0" u="none" strike="noStrike">
              <a:solidFill>
                <a:srgbClr val="000000"/>
              </a:solidFill>
              <a:ea typeface="esamanru OTF Bold"/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교육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철학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및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가치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42400" y="5524500"/>
            <a:ext cx="80772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국산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원목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사용을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통한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 </a:t>
            </a:r>
          </a:p>
          <a:p>
            <a:pPr algn="l" lvl="0">
              <a:lnSpc>
                <a:spcPct val="141100"/>
              </a:lnSpc>
            </a:pP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탄소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저장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효과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강조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2400" y="3517900"/>
            <a:ext cx="8166100" cy="124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탄소중립</a:t>
            </a:r>
            <a:r>
              <a:rPr lang="en-US" sz="70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실천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2700" y="1981200"/>
            <a:ext cx="7048500" cy="7048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교육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철학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및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가치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42400" y="5524500"/>
            <a:ext cx="80772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목공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체험을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통한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 </a:t>
            </a:r>
          </a:p>
          <a:p>
            <a:pPr algn="l" lvl="0">
              <a:lnSpc>
                <a:spcPct val="141100"/>
              </a:lnSpc>
            </a:pP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실습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중심</a:t>
            </a:r>
            <a:r>
              <a:rPr lang="en-US" sz="41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false" i="false" u="none" strike="noStrike">
                <a:solidFill>
                  <a:srgbClr val="000000"/>
                </a:solidFill>
                <a:ea typeface="esamanru OTF Bold"/>
              </a:rPr>
              <a:t>학습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2400" y="3517900"/>
            <a:ext cx="8166100" cy="124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창의력</a:t>
            </a:r>
            <a:r>
              <a:rPr lang="en-US" sz="7000" b="false" i="false" u="none" strike="noStrike">
                <a:solidFill>
                  <a:srgbClr val="000000"/>
                </a:solidFill>
                <a:latin typeface="esamanru OTF Bold"/>
              </a:rPr>
              <a:t>·</a:t>
            </a: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손기술</a:t>
            </a:r>
            <a:r>
              <a:rPr lang="en-US" sz="70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발달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2700" y="1981200"/>
            <a:ext cx="7048500" cy="7048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교육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철학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및</a:t>
            </a:r>
            <a:r>
              <a:rPr lang="en-US" sz="3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3000" b="false" i="false" u="none" strike="noStrike">
                <a:solidFill>
                  <a:srgbClr val="715130"/>
                </a:solidFill>
                <a:ea typeface="esamanru OTF Bold"/>
              </a:rPr>
              <a:t>가치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42400" y="5524500"/>
            <a:ext cx="8077200" cy="161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41100"/>
              </a:lnSpc>
              <a:defRPr/>
            </a:pP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지역사회</a:t>
            </a:r>
            <a:r>
              <a:rPr lang="en-US" sz="41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연계</a:t>
            </a:r>
            <a:r>
              <a:rPr lang="en-US" sz="4100" b="0" i="0" u="none" strike="noStrike">
                <a:solidFill>
                  <a:srgbClr val="000000"/>
                </a:solidFill>
                <a:latin typeface="esamanru OTF Bold"/>
              </a:rPr>
              <a:t>,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강사</a:t>
            </a:r>
            <a:r>
              <a:rPr lang="en-US" sz="41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양성을</a:t>
            </a:r>
            <a:r>
              <a:rPr lang="en-US" sz="41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통한</a:t>
            </a:r>
            <a:endParaRPr lang="ko-KR" sz="4100" b="0" i="0" u="none" strike="noStrike">
              <a:solidFill>
                <a:srgbClr val="000000"/>
              </a:solidFill>
              <a:ea typeface="esamanru OTF Bold"/>
            </a:endParaRPr>
          </a:p>
          <a:p>
            <a:pPr lvl="0" algn="l">
              <a:lnSpc>
                <a:spcPct val="141100"/>
              </a:lnSpc>
              <a:defRPr/>
            </a:pPr>
            <a:r>
              <a:rPr lang="ko-KR" altLang="en-US" sz="4100" b="0" i="0" u="none" strike="noStrike">
                <a:solidFill>
                  <a:srgbClr val="000000"/>
                </a:solidFill>
                <a:ea typeface="esamanru OTF Bold"/>
              </a:rPr>
              <a:t>지속가능한</a:t>
            </a:r>
            <a:r>
              <a:rPr lang="ko-KR" altLang="en-US" sz="41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일자리</a:t>
            </a:r>
            <a:r>
              <a:rPr lang="en-US" sz="41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및</a:t>
            </a:r>
            <a:r>
              <a:rPr lang="en-US" sz="41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교육</a:t>
            </a:r>
            <a:r>
              <a:rPr lang="en-US" sz="4100" b="0" i="0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4100" b="0" i="0" u="none" strike="noStrike">
                <a:solidFill>
                  <a:srgbClr val="000000"/>
                </a:solidFill>
                <a:ea typeface="esamanru OTF Bold"/>
              </a:rPr>
              <a:t>확대</a:t>
            </a:r>
            <a:endParaRPr lang="ko-KR" sz="4100" b="0" i="0" u="none" strike="noStrike">
              <a:solidFill>
                <a:srgbClr val="000000"/>
              </a:solidFill>
              <a:ea typeface="esamanru OTF Bold"/>
            </a:endParaRPr>
          </a:p>
        </p:txBody>
      </p:sp>
      <p:sp>
        <p:nvSpPr>
          <p:cNvPr name="TextBox 9" id="9"/>
          <p:cNvSpPr txBox="true"/>
          <p:nvPr/>
        </p:nvSpPr>
        <p:spPr>
          <a:xfrm rot="0">
            <a:off x="9042400" y="3517900"/>
            <a:ext cx="8166100" cy="124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사회적</a:t>
            </a:r>
            <a:r>
              <a:rPr lang="en-US" sz="70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가치</a:t>
            </a:r>
            <a:r>
              <a:rPr lang="en-US" sz="7000" b="false" i="false" u="none" strike="noStrike">
                <a:solidFill>
                  <a:srgbClr val="00000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000000"/>
                </a:solidFill>
                <a:ea typeface="esamanru OTF Bold"/>
              </a:rPr>
              <a:t>실현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2700" y="1981200"/>
            <a:ext cx="7048500" cy="704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343149" y="3759200"/>
            <a:ext cx="13601700" cy="3670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프로그램명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탄소저장량이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표시된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국내산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원목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도마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만들기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 </a:t>
            </a:r>
            <a:endParaRPr lang="en-US" sz="3800" b="0" i="0" u="none" strike="noStrike">
              <a:solidFill>
                <a:srgbClr val="71513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체험운영주체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우스레공방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(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의정부시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동일로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513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번길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7)</a:t>
            </a:r>
            <a:endParaRPr lang="en-US" sz="3800" b="0" i="0" u="none" strike="noStrike">
              <a:solidFill>
                <a:srgbClr val="71513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대상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학교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,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기관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,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기업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, </a:t>
            </a:r>
            <a:endParaRPr lang="en-US" sz="3800" b="0" i="0" u="none" strike="noStrike">
              <a:solidFill>
                <a:srgbClr val="71513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시민단체운영형태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출장형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공방형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학교수업형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“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국내산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원목으로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실천해보는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탄소중립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,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내가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만드는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ESG”</a:t>
            </a:r>
            <a:endParaRPr lang="en-US" sz="3800" b="0" i="0" u="none" strike="noStrike">
              <a:solidFill>
                <a:srgbClr val="715130"/>
              </a:solidFill>
              <a:latin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프로그램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개요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4508500"/>
            <a:ext cx="2755900" cy="275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119100" y="4368800"/>
            <a:ext cx="3352800" cy="2959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635500" y="4635500"/>
            <a:ext cx="8343900" cy="217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기후위기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대응과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탄소중립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실현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필요성</a:t>
            </a:r>
          </a:p>
          <a:p>
            <a:pPr algn="l" lvl="0">
              <a:lnSpc>
                <a:spcPct val="128650"/>
              </a:lnSpc>
            </a:pP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- ESG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가치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확산과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생활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속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실천의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부족</a:t>
            </a:r>
          </a:p>
          <a:p>
            <a:pPr algn="l" lvl="0">
              <a:lnSpc>
                <a:spcPct val="128650"/>
              </a:lnSpc>
            </a:pP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국산목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활용의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환경적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·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사회적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의미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추진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배경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781300" y="4229100"/>
            <a:ext cx="12814300" cy="2933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국내산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원목을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통해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탄소중립의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의미와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실천방법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체험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- ESG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가치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(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환경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·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사회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·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지배구조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)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를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통합한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 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시민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참여형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프로그램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의정부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시민의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탄소저감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실천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문화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확산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지역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자원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순환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및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임업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활성화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기여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교육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목적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327400" y="4559300"/>
            <a:ext cx="12814300" cy="217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1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차시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탄소중립과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ESG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이해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(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이론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중심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)</a:t>
            </a:r>
          </a:p>
          <a:p>
            <a:pPr algn="l" lvl="0">
              <a:lnSpc>
                <a:spcPct val="128650"/>
              </a:lnSpc>
            </a:pP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2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차시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국내산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원목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도마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제작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체험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(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실습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중심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)</a:t>
            </a:r>
          </a:p>
          <a:p>
            <a:pPr algn="l" lvl="0">
              <a:lnSpc>
                <a:spcPct val="128650"/>
              </a:lnSpc>
            </a:pP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3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차시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탄소중립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실천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서약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및</a:t>
            </a:r>
            <a:r>
              <a:rPr lang="en-US" sz="3800" b="false" i="false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715130"/>
                </a:solidFill>
                <a:ea typeface="Pretendard Bold"/>
              </a:rPr>
              <a:t>공유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교육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구성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18300" y="3657600"/>
            <a:ext cx="5549900" cy="787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ko-KR" sz="4400" b="0" i="0" u="none" strike="noStrike">
                <a:solidFill>
                  <a:srgbClr val="3a4ca8"/>
                </a:solidFill>
                <a:ea typeface="Pretendard Bold"/>
              </a:rPr>
              <a:t>탄소중립</a:t>
            </a:r>
            <a:r>
              <a:rPr lang="en-US" sz="4400" b="0" i="0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4400" b="0" i="0" u="none" strike="noStrike">
                <a:solidFill>
                  <a:srgbClr val="3a4ca8"/>
                </a:solidFill>
                <a:ea typeface="Pretendard Bold"/>
              </a:rPr>
              <a:t>실천</a:t>
            </a:r>
            <a:r>
              <a:rPr lang="en-US" sz="4400" b="0" i="0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4400" b="0" i="0" u="none" strike="noStrike">
                <a:solidFill>
                  <a:srgbClr val="3a4ca8"/>
                </a:solidFill>
                <a:ea typeface="Pretendard Bold"/>
              </a:rPr>
              <a:t>서약서</a:t>
            </a:r>
            <a:endParaRPr lang="ko-KR" sz="4400" b="0" i="0" u="none" strike="noStrike">
              <a:solidFill>
                <a:srgbClr val="3a4ca8"/>
              </a:solidFill>
              <a:ea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서약서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22700" y="5194300"/>
            <a:ext cx="10744200" cy="217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본인은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기후위기의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심각성을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인식하고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지구환경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보호와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지속가능한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미래를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위하여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일상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속에서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탄소중립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실천에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적극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동참할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것을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다짐하며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다음과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같이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서약합니다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2700" y="2159000"/>
            <a:ext cx="107442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일회용품과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플라스틱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사용을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줄이고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재사용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가능한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물품을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사용하겠습니다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22700" y="4191000"/>
            <a:ext cx="107442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전기와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물을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아껴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쓰고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에너지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효율을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높이는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생활을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하겠습니다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22700" y="6210300"/>
            <a:ext cx="107442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대중교통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이용과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걷기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자전거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타기를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생활화하겠습니다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2700" y="2159000"/>
            <a:ext cx="107442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음식물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쓰레기를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줄이고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친환경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식생활을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실천하겠습니다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22700" y="4572000"/>
            <a:ext cx="107442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국산목제품과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친환경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제품을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우선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소비하겠습니다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22700" y="6210300"/>
            <a:ext cx="107442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나무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심기와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탄소흡수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활동에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자발적으로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참여하겠습니다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27100" y="806450"/>
            <a:ext cx="16675100" cy="8674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2700" y="2159000"/>
            <a:ext cx="107442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하나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,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탄소중립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실천의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중요성을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주변에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알리고</a:t>
            </a:r>
          </a:p>
          <a:p>
            <a:pPr algn="l" lvl="0">
              <a:lnSpc>
                <a:spcPct val="128650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함께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실천하도록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노력하겠습니다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22700" y="4191000"/>
            <a:ext cx="124841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본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서약을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성실히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이행하여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건강한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지구와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미래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세대를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  <a:endParaRPr lang="en-US" sz="3800" b="0" i="0" u="none" strike="noStrike">
              <a:solidFill>
                <a:srgbClr val="00000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위한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탄소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중립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사회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실현에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앞장설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것을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다짐합니다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.</a:t>
            </a:r>
            <a:endParaRPr lang="en-US" sz="38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48100" y="6540500"/>
            <a:ext cx="112395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2025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년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 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월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 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일</a:t>
            </a:r>
            <a:endParaRPr lang="ko-KR" sz="3800" b="0" i="0" u="none" strike="noStrike">
              <a:solidFill>
                <a:srgbClr val="00000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서약자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성명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: ___________(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서명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또는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날인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)   </a:t>
            </a:r>
            <a:endParaRPr lang="ko-KR" sz="3800" b="0" i="0" u="none" strike="noStrike">
              <a:solidFill>
                <a:srgbClr val="00000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Bold"/>
              </a:rPr>
              <a:t>전화번호</a:t>
            </a:r>
            <a:r>
              <a:rPr lang="en-US" sz="380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  <a:endParaRPr lang="en-US" sz="3800" b="0" i="0" u="none" strike="noStrike">
              <a:solidFill>
                <a:srgbClr val="000000"/>
              </a:solidFill>
              <a:latin typeface="Pretendard Bold"/>
            </a:endParaRPr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603500" y="4191000"/>
            <a:ext cx="14249400" cy="2933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출장형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(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기관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·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기업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):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최대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50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2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시간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1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인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70,000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원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공방형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(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시민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):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최대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10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2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시간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동일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조건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학교형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: 30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내외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재료비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20,000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원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/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강사비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100,000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원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(</a:t>
            </a:r>
            <a:r>
              <a:rPr lang="en-US" altLang="ko-KR" sz="3800" b="0" i="0" u="none" strike="noStrike">
                <a:solidFill>
                  <a:srgbClr val="715130"/>
                </a:solidFill>
                <a:latin typeface="Pretendard Bold"/>
              </a:rPr>
              <a:t>1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명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기준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)</a:t>
            </a:r>
            <a:endParaRPr lang="en-US" sz="3800" b="0" i="0" u="none" strike="noStrike">
              <a:solidFill>
                <a:srgbClr val="71513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※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평생학습원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·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청소년수련관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등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시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산하기관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연계</a:t>
            </a:r>
            <a:r>
              <a:rPr lang="en-US" sz="38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800" b="0" i="0" u="none" strike="noStrike">
                <a:solidFill>
                  <a:srgbClr val="715130"/>
                </a:solidFill>
                <a:ea typeface="Pretendard Bold"/>
              </a:rPr>
              <a:t>가능</a:t>
            </a:r>
            <a:endParaRPr lang="ko-KR" sz="3800" b="0" i="0" u="none" strike="noStrike">
              <a:solidFill>
                <a:srgbClr val="715130"/>
              </a:solidFill>
              <a:ea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운영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방식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895600" y="4127500"/>
            <a:ext cx="12966700" cy="299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E(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환경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):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국산목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사용으로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수입목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운송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탄소배출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저감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, </a:t>
            </a:r>
            <a:endParaRPr lang="en-US" sz="3900" b="0" i="0" u="none" strike="noStrike">
              <a:solidFill>
                <a:srgbClr val="71513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도마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1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= 1.2kg CO₂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저장</a:t>
            </a:r>
            <a:endParaRPr lang="ko-KR" sz="39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S(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사회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):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강사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양성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및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지역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일자리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창출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,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지역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임업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활성화</a:t>
            </a:r>
            <a:endParaRPr lang="ko-KR" sz="39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G(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지배구조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):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기관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ESG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보고서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,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캠페인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자료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활용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가능</a:t>
            </a:r>
            <a:endParaRPr lang="ko-KR" sz="3900" b="0" i="0" u="none" strike="noStrike">
              <a:solidFill>
                <a:srgbClr val="715130"/>
              </a:solidFill>
              <a:ea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ESG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및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탄소중립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기여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134100" y="3162300"/>
            <a:ext cx="6172200" cy="5791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ESG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및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탄소중립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기여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127250" y="3771900"/>
            <a:ext cx="14033500" cy="3759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참가자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탄소저장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체험으로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실천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의지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 </a:t>
            </a:r>
            <a:endParaRPr lang="en-US" sz="3900" b="0" i="0" u="none" strike="noStrike">
              <a:solidFill>
                <a:srgbClr val="71513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강화기관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/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기업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: ESG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평가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지표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개선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,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사회공헌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홍보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효과</a:t>
            </a:r>
            <a:endParaRPr lang="ko-KR" sz="39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지역사회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국산목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순환경제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및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시민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환경의식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향상</a:t>
            </a:r>
            <a:endParaRPr lang="ko-KR" sz="39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의정부시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탄소중립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실천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거점도시로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이미지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강화</a:t>
            </a:r>
            <a:endParaRPr lang="ko-KR" sz="39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대국민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홍보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: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지역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방송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,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신문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, SNS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를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통한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전국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확산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홍보</a:t>
            </a:r>
            <a:r>
              <a:rPr lang="en-US" sz="3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3900" b="0" i="0" u="none" strike="noStrike">
                <a:solidFill>
                  <a:srgbClr val="715130"/>
                </a:solidFill>
                <a:ea typeface="Pretendard Bold"/>
              </a:rPr>
              <a:t>추진</a:t>
            </a:r>
            <a:endParaRPr lang="ko-KR" sz="3900" b="0" i="0" u="none" strike="noStrike">
              <a:solidFill>
                <a:srgbClr val="715130"/>
              </a:solidFill>
              <a:ea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기대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효과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879600" y="4013200"/>
            <a:ext cx="14528800" cy="295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SNS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챌린지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(#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내가만든도마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#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의정부탄소중립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)</a:t>
            </a:r>
            <a:endParaRPr lang="en-US" sz="5400" b="0" i="0" u="none" strike="noStrike">
              <a:solidFill>
                <a:srgbClr val="715130"/>
              </a:solidFill>
              <a:latin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지역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언론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및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ESG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보고서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연계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홍보</a:t>
            </a:r>
            <a:endParaRPr lang="ko-KR" sz="54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“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시민이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만드는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탄소저장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5400" b="0" i="0" u="none" strike="noStrike">
                <a:solidFill>
                  <a:srgbClr val="715130"/>
                </a:solidFill>
                <a:ea typeface="Pretendard Bold"/>
              </a:rPr>
              <a:t>문화</a:t>
            </a:r>
            <a:r>
              <a:rPr lang="en-US" sz="5400" b="0" i="0" u="none" strike="noStrike">
                <a:solidFill>
                  <a:srgbClr val="715130"/>
                </a:solidFill>
                <a:latin typeface="Pretendard Bold"/>
              </a:rPr>
              <a:t>!”</a:t>
            </a:r>
            <a:endParaRPr lang="en-US" sz="5400" b="0" i="0" u="none" strike="noStrike">
              <a:solidFill>
                <a:srgbClr val="715130"/>
              </a:solidFill>
              <a:latin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홍보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및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시민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캠페인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768600" y="4127500"/>
            <a:ext cx="12750800" cy="280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49"/>
              </a:lnSpc>
              <a:defRPr/>
            </a:pP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지역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중심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탄소중립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체험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플랫폼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구축</a:t>
            </a:r>
            <a:endParaRPr lang="ko-KR" sz="49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지속가능한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환경교육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+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사회적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일자리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창출</a:t>
            </a:r>
            <a:endParaRPr lang="ko-KR" sz="4900" b="0" i="0" u="none" strike="noStrike">
              <a:solidFill>
                <a:srgbClr val="715130"/>
              </a:solidFill>
              <a:ea typeface="Pretendard Bold"/>
            </a:endParaRPr>
          </a:p>
          <a:p>
            <a:pPr lvl="0" algn="l">
              <a:lnSpc>
                <a:spcPct val="128649"/>
              </a:lnSpc>
              <a:defRPr/>
            </a:pP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-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의정부에서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전국으로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확산되는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시민참여</a:t>
            </a:r>
            <a:r>
              <a:rPr lang="en-US" sz="4900" b="0" i="0" u="none" strike="noStrike">
                <a:solidFill>
                  <a:srgbClr val="715130"/>
                </a:solidFill>
                <a:latin typeface="Pretendard Bold"/>
              </a:rPr>
              <a:t> </a:t>
            </a:r>
            <a:r>
              <a:rPr lang="ko-KR" sz="4900" b="0" i="0" u="none" strike="noStrike">
                <a:solidFill>
                  <a:srgbClr val="715130"/>
                </a:solidFill>
                <a:ea typeface="Pretendard Bold"/>
              </a:rPr>
              <a:t>모델</a:t>
            </a:r>
            <a:endParaRPr lang="ko-KR" sz="4900" b="0" i="0" u="none" strike="noStrike">
              <a:solidFill>
                <a:srgbClr val="715130"/>
              </a:solidFill>
              <a:ea typeface="Pretendard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3467100" y="1358900"/>
            <a:ext cx="113538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우스레공방의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비전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25600" y="4267200"/>
            <a:ext cx="15100300" cy="165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9300" b="false" i="false" u="none" strike="noStrike">
                <a:solidFill>
                  <a:srgbClr val="715130"/>
                </a:solidFill>
                <a:ea typeface="esamanru OTF Bold"/>
              </a:rPr>
              <a:t>감사합니다</a:t>
            </a:r>
            <a:r>
              <a:rPr lang="en-US" sz="9300" b="false" i="false" u="none" strike="noStrike">
                <a:solidFill>
                  <a:srgbClr val="715130"/>
                </a:solidFill>
                <a:latin typeface="esamanru OTF 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50500" y="1041400"/>
            <a:ext cx="6845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8729"/>
              </a:lnSpc>
            </a:pPr>
            <a:r>
              <a:rPr lang="en-US" sz="1600" b="false" i="false" u="none" strike="noStrike" spc="100">
                <a:solidFill>
                  <a:srgbClr val="B0966E"/>
                </a:solidFill>
                <a:latin typeface="Pretendard Medium"/>
              </a:rPr>
              <a:t>PAGE 07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536</ep:Words>
  <ep:PresentationFormat>On-screen Show (4:3)</ep:PresentationFormat>
  <ep:Paragraphs>145</ep:Paragraphs>
  <ep:Slides>24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user</cp:lastModifiedBy>
  <dcterms:modified xsi:type="dcterms:W3CDTF">2025-10-24T04:22:11.544</dcterms:modified>
  <cp:revision>10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